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 id="2147483702" r:id="rId5"/>
  </p:sldMasterIdLst>
  <p:notesMasterIdLst>
    <p:notesMasterId r:id="rId16"/>
  </p:notesMasterIdLst>
  <p:sldIdLst>
    <p:sldId id="292" r:id="rId6"/>
    <p:sldId id="1282" r:id="rId7"/>
    <p:sldId id="1290" r:id="rId8"/>
    <p:sldId id="1291" r:id="rId9"/>
    <p:sldId id="1292" r:id="rId10"/>
    <p:sldId id="1293" r:id="rId11"/>
    <p:sldId id="1294" r:id="rId12"/>
    <p:sldId id="1296" r:id="rId13"/>
    <p:sldId id="1295" r:id="rId14"/>
    <p:sldId id="1250"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88" userDrawn="1">
          <p15:clr>
            <a:srgbClr val="A4A3A4"/>
          </p15:clr>
        </p15:guide>
        <p15:guide id="2" pos="144" userDrawn="1">
          <p15:clr>
            <a:srgbClr val="A4A3A4"/>
          </p15:clr>
        </p15:guide>
        <p15:guide id="3" orient="horz" pos="852"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717D"/>
    <a:srgbClr val="223366"/>
    <a:srgbClr val="E8ECF8"/>
    <a:srgbClr val="C9D2ED"/>
    <a:srgbClr val="851910"/>
    <a:srgbClr val="0000FF"/>
    <a:srgbClr val="FFCD8C"/>
    <a:srgbClr val="9F59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384B79-7360-5AB9-DD75-8A808655C326}" v="3" dt="2024-03-18T09:31:49.711"/>
    <p1510:client id="{99C44797-0E56-F5AF-678D-7848B61E9AF5}" v="8" dt="2024-03-19T08:12:55.126"/>
    <p1510:client id="{A00404A6-CA5D-529F-E841-B3080AD8BC10}" v="1" dt="2024-03-18T13:45:15.5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37"/>
  </p:normalViewPr>
  <p:slideViewPr>
    <p:cSldViewPr snapToGrid="0">
      <p:cViewPr varScale="1">
        <p:scale>
          <a:sx n="138" d="100"/>
          <a:sy n="138" d="100"/>
        </p:scale>
        <p:origin x="880" y="176"/>
      </p:cViewPr>
      <p:guideLst>
        <p:guide orient="horz" pos="588"/>
        <p:guide pos="144"/>
        <p:guide orient="horz" pos="852"/>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2" Type="http://schemas.openxmlformats.org/officeDocument/2006/relationships/customXml" Target="../customXml/item2.xml"/><Relationship Id="rId16" Type="http://schemas.openxmlformats.org/officeDocument/2006/relationships/notesMaster" Target="notesMasters/notesMaster1.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20" Type="http://customschemas.google.com/relationships/presentationmetadata" Target="metadata"/><Relationship Id="rId225"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lvl="0" algn="l">
              <a:lnSpc>
                <a:spcPct val="100000"/>
              </a:lnSpc>
              <a:spcBef>
                <a:spcPts val="0"/>
              </a:spcBef>
              <a:spcAft>
                <a:spcPts val="0"/>
              </a:spcAft>
              <a:buSzPts val="1100"/>
              <a:buNone/>
            </a:pPr>
            <a:endParaRPr lang="en"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0727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1168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1089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825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5323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122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8027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BA23-5FDD-5D7E-F6FC-E4A6A7F5FDAF}"/>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1DBF0E-B651-D205-69BC-E38929484D98}"/>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5EAFE9-FEB4-90FA-7604-E71268E9BE42}"/>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27/03/24</a:t>
            </a:fld>
            <a:endParaRPr lang="en-IN"/>
          </a:p>
        </p:txBody>
      </p:sp>
      <p:sp>
        <p:nvSpPr>
          <p:cNvPr id="5" name="Footer Placeholder 4">
            <a:extLst>
              <a:ext uri="{FF2B5EF4-FFF2-40B4-BE49-F238E27FC236}">
                <a16:creationId xmlns:a16="http://schemas.microsoft.com/office/drawing/2014/main" id="{90042C0C-D784-7894-6E7A-A3163E7BD218}"/>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97E244B-37C0-9DC6-22CD-EB660918FB6E}"/>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3672296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357B7-1A74-AE21-4231-6A3BD6FFAA7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C8CC2F-5827-22D5-D0CD-6AB9F4163E47}"/>
              </a:ext>
            </a:extLst>
          </p:cNvPr>
          <p:cNvSpPr>
            <a:spLocks noGrp="1"/>
          </p:cNvSpPr>
          <p:nvPr>
            <p:ph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5C6FD5-C3C6-194C-CBBF-F0992989045B}"/>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27/03/24</a:t>
            </a:fld>
            <a:endParaRPr lang="en-IN"/>
          </a:p>
        </p:txBody>
      </p:sp>
      <p:sp>
        <p:nvSpPr>
          <p:cNvPr id="5" name="Footer Placeholder 4">
            <a:extLst>
              <a:ext uri="{FF2B5EF4-FFF2-40B4-BE49-F238E27FC236}">
                <a16:creationId xmlns:a16="http://schemas.microsoft.com/office/drawing/2014/main" id="{73574B56-D685-4165-F13B-086D869C780F}"/>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6DA53AD0-652A-8B63-B4F8-E64E7976E3AC}"/>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2160378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D8776-064D-C947-6F0A-07C1157DBB5B}"/>
              </a:ext>
            </a:extLst>
          </p:cNvPr>
          <p:cNvSpPr>
            <a:spLocks noGrp="1"/>
          </p:cNvSpPr>
          <p:nvPr>
            <p:ph type="title"/>
          </p:nvPr>
        </p:nvSpPr>
        <p:spPr>
          <a:xfrm>
            <a:off x="623888" y="1282700"/>
            <a:ext cx="7886700" cy="2139950"/>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97AF1F-1E9E-C1AB-35F2-7FCF85FEA10C}"/>
              </a:ext>
            </a:extLst>
          </p:cNvPr>
          <p:cNvSpPr>
            <a:spLocks noGrp="1"/>
          </p:cNvSpPr>
          <p:nvPr>
            <p:ph type="body" idx="1"/>
          </p:nvPr>
        </p:nvSpPr>
        <p:spPr>
          <a:xfrm>
            <a:off x="623888" y="3441700"/>
            <a:ext cx="7886700" cy="1125538"/>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0203F7-4A67-44F8-1EBE-73C704B5F33A}"/>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27/03/24</a:t>
            </a:fld>
            <a:endParaRPr lang="en-IN"/>
          </a:p>
        </p:txBody>
      </p:sp>
      <p:sp>
        <p:nvSpPr>
          <p:cNvPr id="5" name="Footer Placeholder 4">
            <a:extLst>
              <a:ext uri="{FF2B5EF4-FFF2-40B4-BE49-F238E27FC236}">
                <a16:creationId xmlns:a16="http://schemas.microsoft.com/office/drawing/2014/main" id="{522099F4-B0B6-A02C-D33D-42B8CF9C4F4F}"/>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2463AEAC-197E-65FD-B921-6662926A1BBB}"/>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1390917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C773-098A-371D-576C-4D005AAD101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1678A3-157A-338B-1D0E-5DEA10A09599}"/>
              </a:ext>
            </a:extLst>
          </p:cNvPr>
          <p:cNvSpPr>
            <a:spLocks noGrp="1"/>
          </p:cNvSpPr>
          <p:nvPr>
            <p:ph sz="half" idx="1"/>
          </p:nvPr>
        </p:nvSpPr>
        <p:spPr>
          <a:xfrm>
            <a:off x="628650" y="1370013"/>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F0D3D6-28A0-B7DB-AA55-7E1AB265D8D3}"/>
              </a:ext>
            </a:extLst>
          </p:cNvPr>
          <p:cNvSpPr>
            <a:spLocks noGrp="1"/>
          </p:cNvSpPr>
          <p:nvPr>
            <p:ph sz="half" idx="2"/>
          </p:nvPr>
        </p:nvSpPr>
        <p:spPr>
          <a:xfrm>
            <a:off x="4648200" y="1370013"/>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D759DB-2EFB-5AB8-F2C0-4594FD8EF79B}"/>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27/03/24</a:t>
            </a:fld>
            <a:endParaRPr lang="en-IN"/>
          </a:p>
        </p:txBody>
      </p:sp>
      <p:sp>
        <p:nvSpPr>
          <p:cNvPr id="6" name="Footer Placeholder 5">
            <a:extLst>
              <a:ext uri="{FF2B5EF4-FFF2-40B4-BE49-F238E27FC236}">
                <a16:creationId xmlns:a16="http://schemas.microsoft.com/office/drawing/2014/main" id="{940AB47A-E9F3-E30E-4D25-BDB935FA99D1}"/>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4DF4B1E9-6E84-BC5A-9F68-AC8BD08A64DF}"/>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1167681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11BC7-998D-6DF5-4AE4-39C9EA003C12}"/>
              </a:ext>
            </a:extLst>
          </p:cNvPr>
          <p:cNvSpPr>
            <a:spLocks noGrp="1"/>
          </p:cNvSpPr>
          <p:nvPr>
            <p:ph type="title"/>
          </p:nvPr>
        </p:nvSpPr>
        <p:spPr>
          <a:xfrm>
            <a:off x="630238" y="274638"/>
            <a:ext cx="7886700" cy="993775"/>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86AF4A-23F2-79CA-C667-8C4F35BF57DD}"/>
              </a:ext>
            </a:extLst>
          </p:cNvPr>
          <p:cNvSpPr>
            <a:spLocks noGrp="1"/>
          </p:cNvSpPr>
          <p:nvPr>
            <p:ph type="body" idx="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17276D-1914-7EB5-3698-A01774DF1735}"/>
              </a:ext>
            </a:extLst>
          </p:cNvPr>
          <p:cNvSpPr>
            <a:spLocks noGrp="1"/>
          </p:cNvSpPr>
          <p:nvPr>
            <p:ph sz="half" idx="2"/>
          </p:nvPr>
        </p:nvSpPr>
        <p:spPr>
          <a:xfrm>
            <a:off x="630238" y="1879600"/>
            <a:ext cx="3868737"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FACDF0B-5FBC-8A48-3967-A5A9B60BBE1B}"/>
              </a:ext>
            </a:extLst>
          </p:cNvPr>
          <p:cNvSpPr>
            <a:spLocks noGrp="1"/>
          </p:cNvSpPr>
          <p:nvPr>
            <p:ph type="body" sz="quarter" idx="3"/>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AD8437-251D-CB33-46CE-F1B208C3DE0A}"/>
              </a:ext>
            </a:extLst>
          </p:cNvPr>
          <p:cNvSpPr>
            <a:spLocks noGrp="1"/>
          </p:cNvSpPr>
          <p:nvPr>
            <p:ph sz="quarter" idx="4"/>
          </p:nvPr>
        </p:nvSpPr>
        <p:spPr>
          <a:xfrm>
            <a:off x="4629150" y="1879600"/>
            <a:ext cx="3887788"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43DB15A-3C4B-088C-31D9-9D7FADA4117E}"/>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27/03/24</a:t>
            </a:fld>
            <a:endParaRPr lang="en-IN"/>
          </a:p>
        </p:txBody>
      </p:sp>
      <p:sp>
        <p:nvSpPr>
          <p:cNvPr id="8" name="Footer Placeholder 7">
            <a:extLst>
              <a:ext uri="{FF2B5EF4-FFF2-40B4-BE49-F238E27FC236}">
                <a16:creationId xmlns:a16="http://schemas.microsoft.com/office/drawing/2014/main" id="{A2FCD596-67EF-7A66-AED7-23CF46204AB7}"/>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9" name="Slide Number Placeholder 8">
            <a:extLst>
              <a:ext uri="{FF2B5EF4-FFF2-40B4-BE49-F238E27FC236}">
                <a16:creationId xmlns:a16="http://schemas.microsoft.com/office/drawing/2014/main" id="{C4D5DBB6-49F0-7026-4382-9F1CC71BD409}"/>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2644819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E66A4-83CF-94A2-2F9D-EB0EA91EFFE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96E68E2-F84C-3629-3FE2-83DD00EACA5E}"/>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27/03/24</a:t>
            </a:fld>
            <a:endParaRPr lang="en-IN"/>
          </a:p>
        </p:txBody>
      </p:sp>
      <p:sp>
        <p:nvSpPr>
          <p:cNvPr id="4" name="Footer Placeholder 3">
            <a:extLst>
              <a:ext uri="{FF2B5EF4-FFF2-40B4-BE49-F238E27FC236}">
                <a16:creationId xmlns:a16="http://schemas.microsoft.com/office/drawing/2014/main" id="{F04CCCF5-8802-F0B8-E635-C4316F70ED59}"/>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D93F6E91-77AB-EEFA-9CDE-D8D369E6A539}"/>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1742999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F82D9E-CF8F-D821-0EF0-82F39D6875D4}"/>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27/03/24</a:t>
            </a:fld>
            <a:endParaRPr lang="en-IN"/>
          </a:p>
        </p:txBody>
      </p:sp>
      <p:sp>
        <p:nvSpPr>
          <p:cNvPr id="3" name="Footer Placeholder 2">
            <a:extLst>
              <a:ext uri="{FF2B5EF4-FFF2-40B4-BE49-F238E27FC236}">
                <a16:creationId xmlns:a16="http://schemas.microsoft.com/office/drawing/2014/main" id="{C23170A1-58D7-78F7-D58A-811ADFF737E5}"/>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4" name="Slide Number Placeholder 3">
            <a:extLst>
              <a:ext uri="{FF2B5EF4-FFF2-40B4-BE49-F238E27FC236}">
                <a16:creationId xmlns:a16="http://schemas.microsoft.com/office/drawing/2014/main" id="{F2A898F9-6042-211C-FE5E-E3195182B7AA}"/>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1239744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8AA64-E432-8D59-6526-E68F7AC80EA1}"/>
              </a:ext>
            </a:extLst>
          </p:cNvPr>
          <p:cNvSpPr>
            <a:spLocks noGrp="1"/>
          </p:cNvSpPr>
          <p:nvPr>
            <p:ph type="title"/>
          </p:nvPr>
        </p:nvSpPr>
        <p:spPr>
          <a:xfrm>
            <a:off x="630238" y="342900"/>
            <a:ext cx="2949575" cy="120015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71D2085-944B-0B62-B557-11D0053DE106}"/>
              </a:ext>
            </a:extLst>
          </p:cNvPr>
          <p:cNvSpPr>
            <a:spLocks noGrp="1"/>
          </p:cNvSpPr>
          <p:nvPr>
            <p:ph idx="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B889BD-8520-EE29-14ED-24E88F0C13D6}"/>
              </a:ext>
            </a:extLst>
          </p:cNvPr>
          <p:cNvSpPr>
            <a:spLocks noGrp="1"/>
          </p:cNvSpPr>
          <p:nvPr>
            <p:ph type="body" sz="half" idx="2"/>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9AA8EC-BC22-DD8C-CC7C-5CD2AD69637C}"/>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27/03/24</a:t>
            </a:fld>
            <a:endParaRPr lang="en-IN"/>
          </a:p>
        </p:txBody>
      </p:sp>
      <p:sp>
        <p:nvSpPr>
          <p:cNvPr id="6" name="Footer Placeholder 5">
            <a:extLst>
              <a:ext uri="{FF2B5EF4-FFF2-40B4-BE49-F238E27FC236}">
                <a16:creationId xmlns:a16="http://schemas.microsoft.com/office/drawing/2014/main" id="{D07ED4E8-E1B9-BC44-48DF-EA2B09D992CB}"/>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EA28F55D-018D-571C-11FF-8F79FAAA5F70}"/>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704899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F3725-BD84-E963-3DD7-9EDA57001058}"/>
              </a:ext>
            </a:extLst>
          </p:cNvPr>
          <p:cNvSpPr>
            <a:spLocks noGrp="1"/>
          </p:cNvSpPr>
          <p:nvPr>
            <p:ph type="title"/>
          </p:nvPr>
        </p:nvSpPr>
        <p:spPr>
          <a:xfrm>
            <a:off x="630238" y="342900"/>
            <a:ext cx="2949575" cy="120015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A1B5E6C-B120-BDBD-A118-74E930F95320}"/>
              </a:ext>
            </a:extLst>
          </p:cNvPr>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0ED917-6757-883A-86C3-14AFBCE31FF0}"/>
              </a:ext>
            </a:extLst>
          </p:cNvPr>
          <p:cNvSpPr>
            <a:spLocks noGrp="1"/>
          </p:cNvSpPr>
          <p:nvPr>
            <p:ph type="body" sz="half" idx="2"/>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38C69D-33B2-26F1-3AFC-2A4C100F9EB4}"/>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27/03/24</a:t>
            </a:fld>
            <a:endParaRPr lang="en-IN"/>
          </a:p>
        </p:txBody>
      </p:sp>
      <p:sp>
        <p:nvSpPr>
          <p:cNvPr id="6" name="Footer Placeholder 5">
            <a:extLst>
              <a:ext uri="{FF2B5EF4-FFF2-40B4-BE49-F238E27FC236}">
                <a16:creationId xmlns:a16="http://schemas.microsoft.com/office/drawing/2014/main" id="{1720A899-749A-96A6-52E3-5513E02E156A}"/>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7E5EE06A-6BB2-C7F9-0A30-ECA5F6491262}"/>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1784127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4C180-BF96-096D-0F74-E23F9309580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A78D2F-2EAD-1FA2-9475-C228A7E9B4A6}"/>
              </a:ext>
            </a:extLst>
          </p:cNvPr>
          <p:cNvSpPr>
            <a:spLocks noGrp="1"/>
          </p:cNvSpPr>
          <p:nvPr>
            <p:ph type="body" orient="vert" idx="1"/>
          </p:nvPr>
        </p:nvSpPr>
        <p:spPr>
          <a:xfrm>
            <a:off x="628650" y="1370013"/>
            <a:ext cx="7886700" cy="32623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914C92-1C92-C326-AE2B-EE64852E687B}"/>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27/03/24</a:t>
            </a:fld>
            <a:endParaRPr lang="en-IN"/>
          </a:p>
        </p:txBody>
      </p:sp>
      <p:sp>
        <p:nvSpPr>
          <p:cNvPr id="5" name="Footer Placeholder 4">
            <a:extLst>
              <a:ext uri="{FF2B5EF4-FFF2-40B4-BE49-F238E27FC236}">
                <a16:creationId xmlns:a16="http://schemas.microsoft.com/office/drawing/2014/main" id="{C42D40DF-8956-65BF-5B16-FCF84638AC22}"/>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8E2B801-4415-647B-D7B8-398663FE2B85}"/>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3028087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935E50-9753-5324-3CBE-2DB02823BAD1}"/>
              </a:ext>
            </a:extLst>
          </p:cNvPr>
          <p:cNvSpPr>
            <a:spLocks noGrp="1"/>
          </p:cNvSpPr>
          <p:nvPr>
            <p:ph type="title" orient="vert"/>
          </p:nvPr>
        </p:nvSpPr>
        <p:spPr>
          <a:xfrm>
            <a:off x="6543675" y="274638"/>
            <a:ext cx="1971675" cy="4357687"/>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96334F-1BF5-5B8C-3F90-84BF75B51BC0}"/>
              </a:ext>
            </a:extLst>
          </p:cNvPr>
          <p:cNvSpPr>
            <a:spLocks noGrp="1"/>
          </p:cNvSpPr>
          <p:nvPr>
            <p:ph type="body" orient="vert" idx="1"/>
          </p:nvPr>
        </p:nvSpPr>
        <p:spPr>
          <a:xfrm>
            <a:off x="628650" y="274638"/>
            <a:ext cx="5762625" cy="43576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7E210-CB85-84DD-090A-44C7C1797C02}"/>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27/03/24</a:t>
            </a:fld>
            <a:endParaRPr lang="en-IN"/>
          </a:p>
        </p:txBody>
      </p:sp>
      <p:sp>
        <p:nvSpPr>
          <p:cNvPr id="5" name="Footer Placeholder 4">
            <a:extLst>
              <a:ext uri="{FF2B5EF4-FFF2-40B4-BE49-F238E27FC236}">
                <a16:creationId xmlns:a16="http://schemas.microsoft.com/office/drawing/2014/main" id="{FB46FBE5-BF73-7C52-C3DF-B06D7641ECF1}"/>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754D43C-F065-8BD6-C622-543D4321EB53}"/>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6542617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4" name="Rectangle 3">
            <a:extLst>
              <a:ext uri="{FF2B5EF4-FFF2-40B4-BE49-F238E27FC236}">
                <a16:creationId xmlns:a16="http://schemas.microsoft.com/office/drawing/2014/main" id="{B97B0C45-392E-206A-6503-A52CA087AB64}"/>
              </a:ext>
            </a:extLst>
          </p:cNvPr>
          <p:cNvSpPr/>
          <p:nvPr userDrawn="1"/>
        </p:nvSpPr>
        <p:spPr>
          <a:xfrm>
            <a:off x="0" y="122877"/>
            <a:ext cx="9144000" cy="467289"/>
          </a:xfrm>
          <a:prstGeom prst="rect">
            <a:avLst/>
          </a:prstGeom>
          <a:solidFill>
            <a:srgbClr val="223366"/>
          </a:solidFill>
          <a:ln>
            <a:solidFill>
              <a:srgbClr val="223366"/>
            </a:solidFill>
          </a:ln>
          <a:effectLst>
            <a:outerShdw blurRad="50800" dist="38100" dir="54000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F9D9AD1-C7C2-FFF1-54BA-8514D18B8369}"/>
              </a:ext>
            </a:extLst>
          </p:cNvPr>
          <p:cNvSpPr/>
          <p:nvPr userDrawn="1"/>
        </p:nvSpPr>
        <p:spPr>
          <a:xfrm>
            <a:off x="0" y="4935061"/>
            <a:ext cx="9144000" cy="208439"/>
          </a:xfrm>
          <a:prstGeom prst="rect">
            <a:avLst/>
          </a:prstGeom>
          <a:solidFill>
            <a:srgbClr val="8519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759FAC2-2004-4EAC-FA79-8395FA9E5834}"/>
              </a:ext>
            </a:extLst>
          </p:cNvPr>
          <p:cNvSpPr/>
          <p:nvPr userDrawn="1"/>
        </p:nvSpPr>
        <p:spPr>
          <a:xfrm>
            <a:off x="7283428" y="62784"/>
            <a:ext cx="1109472" cy="5846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7411959" y="234964"/>
            <a:ext cx="852410" cy="284955"/>
          </a:xfrm>
          <a:prstGeom prst="rect">
            <a:avLst/>
          </a:prstGeom>
          <a:noFill/>
          <a:ln>
            <a:noFill/>
          </a:ln>
        </p:spPr>
      </p:pic>
      <p:sp>
        <p:nvSpPr>
          <p:cNvPr id="5" name="TextBox 4">
            <a:extLst>
              <a:ext uri="{FF2B5EF4-FFF2-40B4-BE49-F238E27FC236}">
                <a16:creationId xmlns:a16="http://schemas.microsoft.com/office/drawing/2014/main" id="{8964A484-2963-FBA3-E733-1A64254407DC}"/>
              </a:ext>
            </a:extLst>
          </p:cNvPr>
          <p:cNvSpPr txBox="1"/>
          <p:nvPr userDrawn="1"/>
        </p:nvSpPr>
        <p:spPr>
          <a:xfrm>
            <a:off x="138743" y="189386"/>
            <a:ext cx="345354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olidFill>
                  <a:schemeClr val="bg1"/>
                </a:solidFill>
              </a:rPr>
              <a:t>Creating A Future-ready Workforce</a:t>
            </a:r>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872611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670BE75-ABC6-B8F8-14C2-4329F082BA10}"/>
              </a:ext>
            </a:extLst>
          </p:cNvPr>
          <p:cNvSpPr/>
          <p:nvPr/>
        </p:nvSpPr>
        <p:spPr>
          <a:xfrm>
            <a:off x="5044697" y="5066794"/>
            <a:ext cx="4122549" cy="161945"/>
          </a:xfrm>
          <a:prstGeom prst="rect">
            <a:avLst/>
          </a:prstGeom>
          <a:solidFill>
            <a:srgbClr val="8519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14A44FD-99EF-2386-CD7F-94CC9736D290}"/>
              </a:ext>
            </a:extLst>
          </p:cNvPr>
          <p:cNvSpPr/>
          <p:nvPr/>
        </p:nvSpPr>
        <p:spPr>
          <a:xfrm>
            <a:off x="6137328" y="122877"/>
            <a:ext cx="3006671" cy="467289"/>
          </a:xfrm>
          <a:prstGeom prst="rect">
            <a:avLst/>
          </a:prstGeom>
          <a:solidFill>
            <a:srgbClr val="223366"/>
          </a:solidFill>
          <a:ln>
            <a:solidFill>
              <a:srgbClr val="223366"/>
            </a:solidFill>
          </a:ln>
          <a:effectLst>
            <a:outerShdw blurRad="50800" dist="38100" dir="54000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person in a suit talking on a cell phone&#10;&#10;Description automatically generated">
            <a:extLst>
              <a:ext uri="{FF2B5EF4-FFF2-40B4-BE49-F238E27FC236}">
                <a16:creationId xmlns:a16="http://schemas.microsoft.com/office/drawing/2014/main" id="{5CFB3317-FBB6-E882-D2A0-9D6E7CF982DD}"/>
              </a:ext>
            </a:extLst>
          </p:cNvPr>
          <p:cNvPicPr>
            <a:picLocks noChangeAspect="1"/>
          </p:cNvPicPr>
          <p:nvPr/>
        </p:nvPicPr>
        <p:blipFill>
          <a:blip r:embed="rId3"/>
          <a:stretch>
            <a:fillRect/>
          </a:stretch>
        </p:blipFill>
        <p:spPr>
          <a:xfrm>
            <a:off x="15498" y="0"/>
            <a:ext cx="9144000" cy="5143500"/>
          </a:xfrm>
          <a:prstGeom prst="rect">
            <a:avLst/>
          </a:prstGeom>
        </p:spPr>
      </p:pic>
      <p:sp>
        <p:nvSpPr>
          <p:cNvPr id="2" name="TextBox 1">
            <a:extLst>
              <a:ext uri="{FF2B5EF4-FFF2-40B4-BE49-F238E27FC236}">
                <a16:creationId xmlns:a16="http://schemas.microsoft.com/office/drawing/2014/main" id="{B1520DAD-F8CC-E505-163A-1A40C1FCC226}"/>
              </a:ext>
            </a:extLst>
          </p:cNvPr>
          <p:cNvSpPr txBox="1"/>
          <p:nvPr/>
        </p:nvSpPr>
        <p:spPr>
          <a:xfrm>
            <a:off x="219934" y="983057"/>
            <a:ext cx="3965230" cy="1384995"/>
          </a:xfrm>
          <a:prstGeom prst="rect">
            <a:avLst/>
          </a:prstGeom>
          <a:noFill/>
        </p:spPr>
        <p:txBody>
          <a:bodyPr wrap="square" rtlCol="0">
            <a:spAutoFit/>
          </a:bodyPr>
          <a:lstStyle/>
          <a:p>
            <a:r>
              <a:rPr lang="en-US" sz="2800" b="1" dirty="0">
                <a:solidFill>
                  <a:srgbClr val="161D23"/>
                </a:solidFill>
              </a:rPr>
              <a:t>NEXT GEN EMPLOYABILITY PROGRAM</a:t>
            </a:r>
          </a:p>
        </p:txBody>
      </p:sp>
      <p:sp>
        <p:nvSpPr>
          <p:cNvPr id="6" name="Rectangle 5">
            <a:extLst>
              <a:ext uri="{FF2B5EF4-FFF2-40B4-BE49-F238E27FC236}">
                <a16:creationId xmlns:a16="http://schemas.microsoft.com/office/drawing/2014/main" id="{BC4CF228-26B3-09C5-44DF-CA8F345519C2}"/>
              </a:ext>
            </a:extLst>
          </p:cNvPr>
          <p:cNvSpPr/>
          <p:nvPr/>
        </p:nvSpPr>
        <p:spPr>
          <a:xfrm>
            <a:off x="338619" y="2452456"/>
            <a:ext cx="23461" cy="1124328"/>
          </a:xfrm>
          <a:prstGeom prst="rect">
            <a:avLst/>
          </a:prstGeom>
          <a:solidFill>
            <a:srgbClr val="851910"/>
          </a:solidFill>
          <a:ln>
            <a:solidFill>
              <a:srgbClr val="8519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7054292D-CF71-BD6B-6494-F0C14CB8262D}"/>
              </a:ext>
            </a:extLst>
          </p:cNvPr>
          <p:cNvSpPr txBox="1"/>
          <p:nvPr/>
        </p:nvSpPr>
        <p:spPr>
          <a:xfrm>
            <a:off x="389183" y="2453126"/>
            <a:ext cx="2727901" cy="1200329"/>
          </a:xfrm>
          <a:prstGeom prst="rect">
            <a:avLst/>
          </a:prstGeom>
          <a:noFill/>
        </p:spPr>
        <p:txBody>
          <a:bodyPr wrap="square" rtlCol="0">
            <a:spAutoFit/>
          </a:bodyPr>
          <a:lstStyle/>
          <a:p>
            <a:r>
              <a:rPr lang="en-US" sz="2400" dirty="0">
                <a:solidFill>
                  <a:srgbClr val="161D23"/>
                </a:solidFill>
              </a:rPr>
              <a:t>CREATING A FUTURE-READY WORKFORCE</a:t>
            </a:r>
          </a:p>
        </p:txBody>
      </p:sp>
      <p:sp>
        <p:nvSpPr>
          <p:cNvPr id="21" name="Rectangle 20">
            <a:extLst>
              <a:ext uri="{FF2B5EF4-FFF2-40B4-BE49-F238E27FC236}">
                <a16:creationId xmlns:a16="http://schemas.microsoft.com/office/drawing/2014/main" id="{3E916418-C932-83FF-F890-E41BEED5285B}"/>
              </a:ext>
            </a:extLst>
          </p:cNvPr>
          <p:cNvSpPr/>
          <p:nvPr/>
        </p:nvSpPr>
        <p:spPr>
          <a:xfrm>
            <a:off x="7283428" y="62784"/>
            <a:ext cx="1109472" cy="5846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oogle Shape;110;p4" descr="A close up of a sign&#10;&#10;Description automatically generated">
            <a:extLst>
              <a:ext uri="{FF2B5EF4-FFF2-40B4-BE49-F238E27FC236}">
                <a16:creationId xmlns:a16="http://schemas.microsoft.com/office/drawing/2014/main" id="{69DAD0D2-2C07-BEEA-4C8D-0FC32AA5BDFD}"/>
              </a:ext>
            </a:extLst>
          </p:cNvPr>
          <p:cNvPicPr preferRelativeResize="0"/>
          <p:nvPr/>
        </p:nvPicPr>
        <p:blipFill rotWithShape="1">
          <a:blip r:embed="rId4">
            <a:alphaModFix/>
          </a:blip>
          <a:srcRect/>
          <a:stretch/>
        </p:blipFill>
        <p:spPr>
          <a:xfrm>
            <a:off x="7411959" y="234964"/>
            <a:ext cx="852410" cy="284955"/>
          </a:xfrm>
          <a:prstGeom prst="rect">
            <a:avLst/>
          </a:prstGeom>
          <a:noFill/>
          <a:ln>
            <a:noFill/>
          </a:ln>
        </p:spPr>
      </p:pic>
      <p:sp>
        <p:nvSpPr>
          <p:cNvPr id="23" name="TextBox 22">
            <a:extLst>
              <a:ext uri="{FF2B5EF4-FFF2-40B4-BE49-F238E27FC236}">
                <a16:creationId xmlns:a16="http://schemas.microsoft.com/office/drawing/2014/main" id="{2909C0C7-360A-0B80-38D4-82EEF27C8CA1}"/>
              </a:ext>
            </a:extLst>
          </p:cNvPr>
          <p:cNvSpPr txBox="1"/>
          <p:nvPr/>
        </p:nvSpPr>
        <p:spPr>
          <a:xfrm>
            <a:off x="218705" y="3931116"/>
            <a:ext cx="1338878" cy="276999"/>
          </a:xfrm>
          <a:prstGeom prst="rect">
            <a:avLst/>
          </a:prstGeom>
          <a:noFill/>
        </p:spPr>
        <p:txBody>
          <a:bodyPr wrap="square" rtlCol="0" anchor="ctr">
            <a:spAutoFit/>
          </a:bodyPr>
          <a:lstStyle/>
          <a:p>
            <a:r>
              <a:rPr lang="en-US" sz="1200" b="1" dirty="0">
                <a:solidFill>
                  <a:srgbClr val="161D23"/>
                </a:solidFill>
              </a:rPr>
              <a:t>Student Name :</a:t>
            </a:r>
          </a:p>
        </p:txBody>
      </p:sp>
      <p:sp>
        <p:nvSpPr>
          <p:cNvPr id="24" name="TextBox 23">
            <a:extLst>
              <a:ext uri="{FF2B5EF4-FFF2-40B4-BE49-F238E27FC236}">
                <a16:creationId xmlns:a16="http://schemas.microsoft.com/office/drawing/2014/main" id="{516863D8-C016-5DAB-A496-2E7822EE5CC8}"/>
              </a:ext>
            </a:extLst>
          </p:cNvPr>
          <p:cNvSpPr txBox="1"/>
          <p:nvPr/>
        </p:nvSpPr>
        <p:spPr>
          <a:xfrm>
            <a:off x="5466719" y="4420857"/>
            <a:ext cx="1338878" cy="276999"/>
          </a:xfrm>
          <a:prstGeom prst="rect">
            <a:avLst/>
          </a:prstGeom>
          <a:noFill/>
        </p:spPr>
        <p:txBody>
          <a:bodyPr wrap="square" rtlCol="0" anchor="ctr">
            <a:spAutoFit/>
          </a:bodyPr>
          <a:lstStyle/>
          <a:p>
            <a:r>
              <a:rPr lang="en-US" sz="1200" b="1" dirty="0">
                <a:solidFill>
                  <a:srgbClr val="161D23"/>
                </a:solidFill>
              </a:rPr>
              <a:t>College Name :</a:t>
            </a:r>
          </a:p>
        </p:txBody>
      </p:sp>
      <p:sp>
        <p:nvSpPr>
          <p:cNvPr id="25" name="TextBox 24">
            <a:extLst>
              <a:ext uri="{FF2B5EF4-FFF2-40B4-BE49-F238E27FC236}">
                <a16:creationId xmlns:a16="http://schemas.microsoft.com/office/drawing/2014/main" id="{B0D7A7F1-88E8-0735-5FF0-08C11362F157}"/>
              </a:ext>
            </a:extLst>
          </p:cNvPr>
          <p:cNvSpPr txBox="1"/>
          <p:nvPr/>
        </p:nvSpPr>
        <p:spPr>
          <a:xfrm>
            <a:off x="207099" y="4131286"/>
            <a:ext cx="1644951" cy="276999"/>
          </a:xfrm>
          <a:prstGeom prst="rect">
            <a:avLst/>
          </a:prstGeom>
          <a:noFill/>
        </p:spPr>
        <p:txBody>
          <a:bodyPr wrap="square" rtlCol="0" anchor="ctr">
            <a:spAutoFit/>
          </a:bodyPr>
          <a:lstStyle/>
          <a:p>
            <a:r>
              <a:rPr lang="en-US" sz="1200" dirty="0">
                <a:solidFill>
                  <a:srgbClr val="161D23"/>
                </a:solidFill>
              </a:rPr>
              <a:t>Tejas Gaikawad </a:t>
            </a:r>
          </a:p>
        </p:txBody>
      </p:sp>
      <p:sp>
        <p:nvSpPr>
          <p:cNvPr id="26" name="TextBox 25">
            <a:extLst>
              <a:ext uri="{FF2B5EF4-FFF2-40B4-BE49-F238E27FC236}">
                <a16:creationId xmlns:a16="http://schemas.microsoft.com/office/drawing/2014/main" id="{1B3A60C8-4356-D37F-0DDF-A39B87F184C1}"/>
              </a:ext>
            </a:extLst>
          </p:cNvPr>
          <p:cNvSpPr txBox="1"/>
          <p:nvPr/>
        </p:nvSpPr>
        <p:spPr>
          <a:xfrm>
            <a:off x="218705" y="4465385"/>
            <a:ext cx="1338878" cy="276999"/>
          </a:xfrm>
          <a:prstGeom prst="rect">
            <a:avLst/>
          </a:prstGeom>
          <a:noFill/>
        </p:spPr>
        <p:txBody>
          <a:bodyPr wrap="square" rtlCol="0" anchor="ctr">
            <a:spAutoFit/>
          </a:bodyPr>
          <a:lstStyle/>
          <a:p>
            <a:r>
              <a:rPr lang="en-US" sz="1200" b="1" dirty="0">
                <a:solidFill>
                  <a:srgbClr val="161D23"/>
                </a:solidFill>
              </a:rPr>
              <a:t>Student ID :</a:t>
            </a:r>
          </a:p>
        </p:txBody>
      </p:sp>
      <p:sp>
        <p:nvSpPr>
          <p:cNvPr id="27" name="TextBox 26">
            <a:extLst>
              <a:ext uri="{FF2B5EF4-FFF2-40B4-BE49-F238E27FC236}">
                <a16:creationId xmlns:a16="http://schemas.microsoft.com/office/drawing/2014/main" id="{D52A72D2-9BA5-CD7D-B4C1-CFD904CD627D}"/>
              </a:ext>
            </a:extLst>
          </p:cNvPr>
          <p:cNvSpPr txBox="1"/>
          <p:nvPr/>
        </p:nvSpPr>
        <p:spPr>
          <a:xfrm>
            <a:off x="207099" y="4665555"/>
            <a:ext cx="2628465" cy="276999"/>
          </a:xfrm>
          <a:prstGeom prst="rect">
            <a:avLst/>
          </a:prstGeom>
          <a:noFill/>
        </p:spPr>
        <p:txBody>
          <a:bodyPr wrap="square" rtlCol="0" anchor="ctr">
            <a:spAutoFit/>
          </a:bodyPr>
          <a:lstStyle/>
          <a:p>
            <a:r>
              <a:rPr lang="en-US" sz="1200" dirty="0">
                <a:solidFill>
                  <a:srgbClr val="161D23"/>
                </a:solidFill>
              </a:rPr>
              <a:t>STU64c414be227ae1690571966</a:t>
            </a:r>
          </a:p>
        </p:txBody>
      </p:sp>
      <p:sp>
        <p:nvSpPr>
          <p:cNvPr id="28" name="TextBox 27">
            <a:extLst>
              <a:ext uri="{FF2B5EF4-FFF2-40B4-BE49-F238E27FC236}">
                <a16:creationId xmlns:a16="http://schemas.microsoft.com/office/drawing/2014/main" id="{84E78094-5E7B-659F-FF09-871190F3DD5A}"/>
              </a:ext>
            </a:extLst>
          </p:cNvPr>
          <p:cNvSpPr txBox="1"/>
          <p:nvPr/>
        </p:nvSpPr>
        <p:spPr>
          <a:xfrm>
            <a:off x="5468585" y="4625223"/>
            <a:ext cx="3882514" cy="276999"/>
          </a:xfrm>
          <a:prstGeom prst="rect">
            <a:avLst/>
          </a:prstGeom>
          <a:noFill/>
        </p:spPr>
        <p:txBody>
          <a:bodyPr wrap="square" rtlCol="0" anchor="ctr">
            <a:spAutoFit/>
          </a:bodyPr>
          <a:lstStyle/>
          <a:p>
            <a:r>
              <a:rPr lang="en-US" sz="1200" dirty="0">
                <a:solidFill>
                  <a:srgbClr val="161D23"/>
                </a:solidFill>
              </a:rPr>
              <a:t>Shri Sant Gajanan Maharaj College of engineering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grpSp>
        <p:nvGrpSpPr>
          <p:cNvPr id="10" name="Group 9">
            <a:extLst>
              <a:ext uri="{FF2B5EF4-FFF2-40B4-BE49-F238E27FC236}">
                <a16:creationId xmlns:a16="http://schemas.microsoft.com/office/drawing/2014/main" id="{80D2C29E-66A5-D13B-1825-539B2100EB68}"/>
              </a:ext>
            </a:extLst>
          </p:cNvPr>
          <p:cNvGrpSpPr/>
          <p:nvPr/>
        </p:nvGrpSpPr>
        <p:grpSpPr>
          <a:xfrm>
            <a:off x="743919" y="1340601"/>
            <a:ext cx="7656162" cy="3161654"/>
            <a:chOff x="922150" y="1325103"/>
            <a:chExt cx="7656162" cy="3161654"/>
          </a:xfrm>
        </p:grpSpPr>
        <p:sp>
          <p:nvSpPr>
            <p:cNvPr id="3" name="Rectangle 2">
              <a:extLst>
                <a:ext uri="{FF2B5EF4-FFF2-40B4-BE49-F238E27FC236}">
                  <a16:creationId xmlns:a16="http://schemas.microsoft.com/office/drawing/2014/main" id="{FDDCC566-B000-7B3E-F778-C19DE993DFF5}"/>
                </a:ext>
              </a:extLst>
            </p:cNvPr>
            <p:cNvSpPr/>
            <p:nvPr/>
          </p:nvSpPr>
          <p:spPr>
            <a:xfrm>
              <a:off x="1376643" y="1571218"/>
              <a:ext cx="7201669" cy="2623250"/>
            </a:xfrm>
            <a:prstGeom prst="rect">
              <a:avLst/>
            </a:prstGeom>
            <a:solidFill>
              <a:srgbClr val="E8ECF8"/>
            </a:solidFill>
            <a:ln>
              <a:solidFill>
                <a:srgbClr val="2233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1640C382-94E9-1DDA-BE8A-521BEB626F59}"/>
                </a:ext>
              </a:extLst>
            </p:cNvPr>
            <p:cNvSpPr/>
            <p:nvPr/>
          </p:nvSpPr>
          <p:spPr>
            <a:xfrm>
              <a:off x="922150" y="1325103"/>
              <a:ext cx="697424" cy="3161654"/>
            </a:xfrm>
            <a:prstGeom prst="rect">
              <a:avLst/>
            </a:prstGeom>
            <a:solidFill>
              <a:srgbClr val="223366"/>
            </a:solidFill>
            <a:ln>
              <a:solidFill>
                <a:srgbClr val="2233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8B2F1D2-B3CD-47D4-C97B-3CE2F64AFC82}"/>
                </a:ext>
              </a:extLst>
            </p:cNvPr>
            <p:cNvSpPr txBox="1"/>
            <p:nvPr/>
          </p:nvSpPr>
          <p:spPr>
            <a:xfrm>
              <a:off x="2859380" y="1823109"/>
              <a:ext cx="4409149" cy="30777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en-US" sz="2000" b="1" dirty="0">
                  <a:solidFill>
                    <a:srgbClr val="223366"/>
                  </a:solidFill>
                  <a:latin typeface="Arial"/>
                  <a:cs typeface="Arial"/>
                </a:rPr>
                <a:t>CAPSTONE PROJECT SHOWCASE</a:t>
              </a:r>
            </a:p>
          </p:txBody>
        </p:sp>
        <p:sp>
          <p:nvSpPr>
            <p:cNvPr id="9" name="TextBox 7">
              <a:extLst>
                <a:ext uri="{FF2B5EF4-FFF2-40B4-BE49-F238E27FC236}">
                  <a16:creationId xmlns:a16="http://schemas.microsoft.com/office/drawing/2014/main" id="{9AF297CE-9F11-2600-2058-A27EC2B5D9D4}"/>
                </a:ext>
              </a:extLst>
            </p:cNvPr>
            <p:cNvSpPr txBox="1"/>
            <p:nvPr/>
          </p:nvSpPr>
          <p:spPr>
            <a:xfrm>
              <a:off x="1899598" y="3431892"/>
              <a:ext cx="6328712" cy="51232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96"/>
                </a:lnSpc>
                <a:spcBef>
                  <a:spcPct val="0"/>
                </a:spcBef>
              </a:pPr>
              <a:r>
                <a:rPr lang="en-US" sz="1600" dirty="0">
                  <a:solidFill>
                    <a:schemeClr val="accent2">
                      <a:lumMod val="75000"/>
                    </a:schemeClr>
                  </a:solidFill>
                  <a:latin typeface="+mj-lt"/>
                </a:rPr>
                <a:t>Abstract | Problem Statement | Project Overview |</a:t>
              </a:r>
              <a:r>
                <a:rPr lang="en-US" sz="1600" dirty="0">
                  <a:solidFill>
                    <a:schemeClr val="accent2">
                      <a:lumMod val="75000"/>
                    </a:schemeClr>
                  </a:solidFill>
                  <a:latin typeface="+mj-lt"/>
                  <a:ea typeface="+mn-lt"/>
                  <a:cs typeface="Poppins"/>
                </a:rPr>
                <a:t> Proposed </a:t>
              </a:r>
              <a:r>
                <a:rPr lang="en-US" sz="1600" dirty="0">
                  <a:solidFill>
                    <a:schemeClr val="accent2">
                      <a:lumMod val="75000"/>
                    </a:schemeClr>
                  </a:solidFill>
                  <a:latin typeface="+mj-lt"/>
                  <a:ea typeface="+mn-lt"/>
                  <a:cs typeface="+mn-lt"/>
                </a:rPr>
                <a:t>Solution </a:t>
              </a:r>
              <a:r>
                <a:rPr lang="en-US" sz="1600" dirty="0">
                  <a:solidFill>
                    <a:schemeClr val="accent2">
                      <a:lumMod val="75000"/>
                    </a:schemeClr>
                  </a:solidFill>
                  <a:latin typeface="+mj-lt"/>
                </a:rPr>
                <a:t>| </a:t>
              </a:r>
              <a:r>
                <a:rPr lang="en-US" sz="1600" dirty="0">
                  <a:solidFill>
                    <a:schemeClr val="accent2">
                      <a:lumMod val="75000"/>
                    </a:schemeClr>
                  </a:solidFill>
                  <a:latin typeface="+mj-lt"/>
                  <a:ea typeface="+mn-lt"/>
                  <a:cs typeface="Poppins"/>
                </a:rPr>
                <a:t>Technology Used</a:t>
              </a:r>
              <a:r>
                <a:rPr lang="en-US" sz="1600" dirty="0">
                  <a:solidFill>
                    <a:schemeClr val="accent2">
                      <a:lumMod val="75000"/>
                    </a:schemeClr>
                  </a:solidFill>
                  <a:latin typeface="+mj-lt"/>
                </a:rPr>
                <a:t> | Modelling &amp; Results </a:t>
              </a:r>
              <a:r>
                <a:rPr lang="en-US" sz="1600" dirty="0">
                  <a:solidFill>
                    <a:schemeClr val="accent2">
                      <a:lumMod val="75000"/>
                    </a:schemeClr>
                  </a:solidFill>
                  <a:latin typeface="+mj-lt"/>
                  <a:ea typeface="+mn-lt"/>
                  <a:cs typeface="+mn-lt"/>
                </a:rPr>
                <a:t>| Conclusion | Q&amp;A</a:t>
              </a:r>
              <a:endParaRPr lang="en-US" sz="1600" dirty="0">
                <a:solidFill>
                  <a:schemeClr val="accent2">
                    <a:lumMod val="75000"/>
                  </a:schemeClr>
                </a:solidFill>
                <a:latin typeface="+mj-lt"/>
                <a:cs typeface="Poppins"/>
              </a:endParaRPr>
            </a:p>
          </p:txBody>
        </p:sp>
        <p:sp>
          <p:nvSpPr>
            <p:cNvPr id="8" name="TextBox 10">
              <a:extLst>
                <a:ext uri="{FF2B5EF4-FFF2-40B4-BE49-F238E27FC236}">
                  <a16:creationId xmlns:a16="http://schemas.microsoft.com/office/drawing/2014/main" id="{D4240D32-9BCC-D793-EF34-3F436C714765}"/>
                </a:ext>
              </a:extLst>
            </p:cNvPr>
            <p:cNvSpPr txBox="1"/>
            <p:nvPr/>
          </p:nvSpPr>
          <p:spPr>
            <a:xfrm>
              <a:off x="2402240" y="2534555"/>
              <a:ext cx="5323429" cy="752001"/>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96"/>
                </a:lnSpc>
                <a:spcBef>
                  <a:spcPct val="0"/>
                </a:spcBef>
              </a:pPr>
              <a:r>
                <a:rPr lang="en-US" sz="1600" dirty="0">
                  <a:latin typeface="+mj-lt"/>
                </a:rPr>
                <a:t>Project Title</a:t>
              </a:r>
            </a:p>
            <a:p>
              <a:pPr algn="ctr">
                <a:lnSpc>
                  <a:spcPts val="1996"/>
                </a:lnSpc>
                <a:spcBef>
                  <a:spcPct val="0"/>
                </a:spcBef>
              </a:pPr>
              <a:r>
                <a:rPr lang="en-US" sz="1600" b="1" dirty="0">
                  <a:latin typeface="+mj-lt"/>
                </a:rPr>
                <a:t>Exploratory Data Analysis on Space Exploration Missions using Power BI (DA) </a:t>
              </a:r>
              <a:endParaRPr lang="en-US" sz="1600" b="1" dirty="0">
                <a:latin typeface="+mj-lt"/>
                <a:cs typeface="Poppins"/>
              </a:endParaRPr>
            </a:p>
          </p:txBody>
        </p:sp>
      </p:grpSp>
    </p:spTree>
    <p:extLst>
      <p:ext uri="{BB962C8B-B14F-4D97-AF65-F5344CB8AC3E}">
        <p14:creationId xmlns:p14="http://schemas.microsoft.com/office/powerpoint/2010/main" val="3232110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A4E3A995-569D-073F-9467-C96E076827FA}"/>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Abstract</a:t>
            </a:r>
            <a:endParaRPr lang="en-IN" sz="1600" dirty="0">
              <a:solidFill>
                <a:srgbClr val="213163"/>
              </a:solidFill>
            </a:endParaRPr>
          </a:p>
        </p:txBody>
      </p:sp>
      <p:grpSp>
        <p:nvGrpSpPr>
          <p:cNvPr id="29" name="Group 28">
            <a:extLst>
              <a:ext uri="{FF2B5EF4-FFF2-40B4-BE49-F238E27FC236}">
                <a16:creationId xmlns:a16="http://schemas.microsoft.com/office/drawing/2014/main" id="{A726C2F8-3E16-2C0C-B71C-BDFE7C703F1C}"/>
              </a:ext>
            </a:extLst>
          </p:cNvPr>
          <p:cNvGrpSpPr/>
          <p:nvPr/>
        </p:nvGrpSpPr>
        <p:grpSpPr>
          <a:xfrm>
            <a:off x="735884" y="1338243"/>
            <a:ext cx="7719937" cy="3323608"/>
            <a:chOff x="712031" y="1234880"/>
            <a:chExt cx="7719937" cy="3323608"/>
          </a:xfrm>
        </p:grpSpPr>
        <p:grpSp>
          <p:nvGrpSpPr>
            <p:cNvPr id="28" name="Group 27">
              <a:extLst>
                <a:ext uri="{FF2B5EF4-FFF2-40B4-BE49-F238E27FC236}">
                  <a16:creationId xmlns:a16="http://schemas.microsoft.com/office/drawing/2014/main" id="{465A22E0-5D6D-1B1A-F09A-169A2C2E55D1}"/>
                </a:ext>
              </a:extLst>
            </p:cNvPr>
            <p:cNvGrpSpPr/>
            <p:nvPr/>
          </p:nvGrpSpPr>
          <p:grpSpPr>
            <a:xfrm>
              <a:off x="712031" y="1234880"/>
              <a:ext cx="7719937" cy="643467"/>
              <a:chOff x="712031" y="1234880"/>
              <a:chExt cx="7719937" cy="643467"/>
            </a:xfrm>
          </p:grpSpPr>
          <p:sp>
            <p:nvSpPr>
              <p:cNvPr id="4" name="Rectangle 3">
                <a:extLst>
                  <a:ext uri="{FF2B5EF4-FFF2-40B4-BE49-F238E27FC236}">
                    <a16:creationId xmlns:a16="http://schemas.microsoft.com/office/drawing/2014/main" id="{5992A4C9-DAB8-80D3-B09E-07655DAEBB65}"/>
                  </a:ext>
                </a:extLst>
              </p:cNvPr>
              <p:cNvSpPr/>
              <p:nvPr/>
            </p:nvSpPr>
            <p:spPr>
              <a:xfrm>
                <a:off x="1372430" y="1234880"/>
                <a:ext cx="7059538" cy="643466"/>
              </a:xfrm>
              <a:prstGeom prst="rect">
                <a:avLst/>
              </a:prstGeom>
              <a:solidFill>
                <a:schemeClr val="accent5">
                  <a:lumMod val="20000"/>
                  <a:lumOff val="80000"/>
                </a:schemeClr>
              </a:solidFill>
              <a:ln w="127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marL="91440" algn="just"/>
                <a:r>
                  <a:rPr lang="en-IN" sz="1200" b="1" i="0" dirty="0">
                    <a:solidFill>
                      <a:srgbClr val="0D0D0D"/>
                    </a:solidFill>
                    <a:effectLst/>
                    <a:highlight>
                      <a:srgbClr val="FFFFFF"/>
                    </a:highlight>
                    <a:latin typeface="Söhne"/>
                  </a:rPr>
                  <a:t>Power BI streamlines the integration and cleansing of diverse datasets crucial for space missions, ensuring data quality and readiness for analysis.</a:t>
                </a:r>
                <a:endParaRPr lang="en-US" sz="1200" b="1" dirty="0">
                  <a:solidFill>
                    <a:schemeClr val="tx1"/>
                  </a:solidFill>
                  <a:highlight>
                    <a:srgbClr val="FFFFFF"/>
                  </a:highlight>
                  <a:latin typeface="+mj-lt"/>
                  <a:cs typeface="Times New Roman" panose="02020603050405020304" pitchFamily="18" charset="0"/>
                </a:endParaRPr>
              </a:p>
            </p:txBody>
          </p:sp>
          <p:sp>
            <p:nvSpPr>
              <p:cNvPr id="5" name="Rectangle: Rounded Corners 4">
                <a:extLst>
                  <a:ext uri="{FF2B5EF4-FFF2-40B4-BE49-F238E27FC236}">
                    <a16:creationId xmlns:a16="http://schemas.microsoft.com/office/drawing/2014/main" id="{37A0F124-FCC7-043A-F32C-33314AB146BD}"/>
                  </a:ext>
                </a:extLst>
              </p:cNvPr>
              <p:cNvSpPr/>
              <p:nvPr/>
            </p:nvSpPr>
            <p:spPr>
              <a:xfrm>
                <a:off x="712031" y="1234880"/>
                <a:ext cx="677333" cy="643467"/>
              </a:xfrm>
              <a:prstGeom prst="roundRect">
                <a:avLst/>
              </a:prstGeom>
              <a:solidFill>
                <a:schemeClr val="accent5">
                  <a:lumMod val="75000"/>
                </a:schemeClr>
              </a:solidFill>
              <a:ln w="12700">
                <a:solidFill>
                  <a:srgbClr val="0071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t>1</a:t>
                </a:r>
              </a:p>
            </p:txBody>
          </p:sp>
        </p:grpSp>
        <p:grpSp>
          <p:nvGrpSpPr>
            <p:cNvPr id="27" name="Group 26">
              <a:extLst>
                <a:ext uri="{FF2B5EF4-FFF2-40B4-BE49-F238E27FC236}">
                  <a16:creationId xmlns:a16="http://schemas.microsoft.com/office/drawing/2014/main" id="{437AEA5F-38C7-2EAC-B55A-A52C642C7997}"/>
                </a:ext>
              </a:extLst>
            </p:cNvPr>
            <p:cNvGrpSpPr/>
            <p:nvPr/>
          </p:nvGrpSpPr>
          <p:grpSpPr>
            <a:xfrm>
              <a:off x="712031" y="2128260"/>
              <a:ext cx="7719937" cy="643467"/>
              <a:chOff x="712031" y="1974905"/>
              <a:chExt cx="7719937" cy="643467"/>
            </a:xfrm>
          </p:grpSpPr>
          <p:sp>
            <p:nvSpPr>
              <p:cNvPr id="17" name="Rectangle 16">
                <a:extLst>
                  <a:ext uri="{FF2B5EF4-FFF2-40B4-BE49-F238E27FC236}">
                    <a16:creationId xmlns:a16="http://schemas.microsoft.com/office/drawing/2014/main" id="{F0874972-970E-AB20-28FF-DE51D45409C5}"/>
                  </a:ext>
                </a:extLst>
              </p:cNvPr>
              <p:cNvSpPr/>
              <p:nvPr/>
            </p:nvSpPr>
            <p:spPr>
              <a:xfrm>
                <a:off x="1372430" y="1974905"/>
                <a:ext cx="7059538" cy="643466"/>
              </a:xfrm>
              <a:prstGeom prst="rect">
                <a:avLst/>
              </a:prstGeom>
              <a:solidFill>
                <a:schemeClr val="bg2">
                  <a:lumMod val="20000"/>
                  <a:lumOff val="80000"/>
                </a:schemeClr>
              </a:solidFill>
              <a:ln w="127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marL="91440" algn="just"/>
                <a:r>
                  <a:rPr lang="en-IN" sz="1200" b="1" i="0" dirty="0">
                    <a:solidFill>
                      <a:srgbClr val="0D0D0D"/>
                    </a:solidFill>
                    <a:effectLst/>
                    <a:highlight>
                      <a:srgbClr val="FFFFFF"/>
                    </a:highlight>
                    <a:latin typeface="Söhne"/>
                  </a:rPr>
                  <a:t>Utilizing Power BI's visualization tools, analysts uncover patterns, trends, and anomalies in space mission data, enhancing understanding and identifying areas for further investigation.</a:t>
                </a:r>
                <a:endParaRPr lang="en-US" sz="1200" b="1" dirty="0">
                  <a:solidFill>
                    <a:schemeClr val="tx1"/>
                  </a:solidFill>
                  <a:latin typeface="+mj-lt"/>
                  <a:cs typeface="Times New Roman" panose="02020603050405020304" pitchFamily="18" charset="0"/>
                </a:endParaRPr>
              </a:p>
            </p:txBody>
          </p:sp>
          <p:sp>
            <p:nvSpPr>
              <p:cNvPr id="18" name="Rectangle: Rounded Corners 17">
                <a:extLst>
                  <a:ext uri="{FF2B5EF4-FFF2-40B4-BE49-F238E27FC236}">
                    <a16:creationId xmlns:a16="http://schemas.microsoft.com/office/drawing/2014/main" id="{A7560D0E-33BB-8564-4F1A-5B42E2343E74}"/>
                  </a:ext>
                </a:extLst>
              </p:cNvPr>
              <p:cNvSpPr/>
              <p:nvPr/>
            </p:nvSpPr>
            <p:spPr>
              <a:xfrm>
                <a:off x="712031" y="1974905"/>
                <a:ext cx="677333" cy="643467"/>
              </a:xfrm>
              <a:prstGeom prst="roundRect">
                <a:avLst/>
              </a:prstGeom>
              <a:solidFill>
                <a:schemeClr val="bg2">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dirty="0"/>
                  <a:t>2</a:t>
                </a:r>
              </a:p>
            </p:txBody>
          </p:sp>
        </p:grpSp>
        <p:grpSp>
          <p:nvGrpSpPr>
            <p:cNvPr id="26" name="Group 25">
              <a:extLst>
                <a:ext uri="{FF2B5EF4-FFF2-40B4-BE49-F238E27FC236}">
                  <a16:creationId xmlns:a16="http://schemas.microsoft.com/office/drawing/2014/main" id="{86049283-7CB4-2083-CE02-53D7ACA583B3}"/>
                </a:ext>
              </a:extLst>
            </p:cNvPr>
            <p:cNvGrpSpPr/>
            <p:nvPr/>
          </p:nvGrpSpPr>
          <p:grpSpPr>
            <a:xfrm>
              <a:off x="712031" y="3021640"/>
              <a:ext cx="7719937" cy="643467"/>
              <a:chOff x="712031" y="2737676"/>
              <a:chExt cx="7719937" cy="643467"/>
            </a:xfrm>
          </p:grpSpPr>
          <p:sp>
            <p:nvSpPr>
              <p:cNvPr id="20" name="Rectangle 19">
                <a:extLst>
                  <a:ext uri="{FF2B5EF4-FFF2-40B4-BE49-F238E27FC236}">
                    <a16:creationId xmlns:a16="http://schemas.microsoft.com/office/drawing/2014/main" id="{789435FA-EFC7-1B3A-6F80-B45135BCF4A8}"/>
                  </a:ext>
                </a:extLst>
              </p:cNvPr>
              <p:cNvSpPr/>
              <p:nvPr/>
            </p:nvSpPr>
            <p:spPr>
              <a:xfrm>
                <a:off x="1372430" y="2737676"/>
                <a:ext cx="7059538" cy="643466"/>
              </a:xfrm>
              <a:prstGeom prst="rect">
                <a:avLst/>
              </a:prstGeom>
              <a:solidFill>
                <a:schemeClr val="accent5">
                  <a:lumMod val="20000"/>
                  <a:lumOff val="80000"/>
                </a:schemeClr>
              </a:solidFill>
              <a:ln w="127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marL="91440" algn="just"/>
                <a:r>
                  <a:rPr lang="en-IN" sz="1200" b="1" i="0" dirty="0">
                    <a:solidFill>
                      <a:srgbClr val="0D0D0D"/>
                    </a:solidFill>
                    <a:effectLst/>
                    <a:highlight>
                      <a:srgbClr val="FFFFFF"/>
                    </a:highlight>
                    <a:latin typeface="Söhne"/>
                  </a:rPr>
                  <a:t>Power BI's analytical features enable in-depth analysis of mission metrics, including identifying outliers and understanding factors influencing outcomes, such as equipment malfunctions or environmental conditions unique to space.</a:t>
                </a:r>
                <a:endParaRPr lang="en-US" sz="1200" b="1" dirty="0">
                  <a:solidFill>
                    <a:schemeClr val="tx1"/>
                  </a:solidFill>
                  <a:latin typeface="+mj-lt"/>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9A3D3CC1-3E19-CE2E-3B8B-3365B8B567CE}"/>
                  </a:ext>
                </a:extLst>
              </p:cNvPr>
              <p:cNvSpPr/>
              <p:nvPr/>
            </p:nvSpPr>
            <p:spPr>
              <a:xfrm>
                <a:off x="712031" y="2737676"/>
                <a:ext cx="677333" cy="643467"/>
              </a:xfrm>
              <a:prstGeom prst="roundRect">
                <a:avLst/>
              </a:prstGeom>
              <a:solidFill>
                <a:schemeClr val="accent5">
                  <a:lumMod val="75000"/>
                </a:schemeClr>
              </a:solidFill>
              <a:ln w="12700">
                <a:solidFill>
                  <a:srgbClr val="0071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dirty="0"/>
                  <a:t>3</a:t>
                </a:r>
              </a:p>
            </p:txBody>
          </p:sp>
        </p:grpSp>
        <p:grpSp>
          <p:nvGrpSpPr>
            <p:cNvPr id="25" name="Group 24">
              <a:extLst>
                <a:ext uri="{FF2B5EF4-FFF2-40B4-BE49-F238E27FC236}">
                  <a16:creationId xmlns:a16="http://schemas.microsoft.com/office/drawing/2014/main" id="{C1242A9F-48C4-1D0E-E275-B12238388CD4}"/>
                </a:ext>
              </a:extLst>
            </p:cNvPr>
            <p:cNvGrpSpPr/>
            <p:nvPr/>
          </p:nvGrpSpPr>
          <p:grpSpPr>
            <a:xfrm>
              <a:off x="712031" y="3915021"/>
              <a:ext cx="7719937" cy="643467"/>
              <a:chOff x="712031" y="3477701"/>
              <a:chExt cx="7719937" cy="643467"/>
            </a:xfrm>
          </p:grpSpPr>
          <p:sp>
            <p:nvSpPr>
              <p:cNvPr id="23" name="Rectangle 22">
                <a:extLst>
                  <a:ext uri="{FF2B5EF4-FFF2-40B4-BE49-F238E27FC236}">
                    <a16:creationId xmlns:a16="http://schemas.microsoft.com/office/drawing/2014/main" id="{90E1A962-5B8D-A408-D117-8F43055D9FCC}"/>
                  </a:ext>
                </a:extLst>
              </p:cNvPr>
              <p:cNvSpPr/>
              <p:nvPr/>
            </p:nvSpPr>
            <p:spPr>
              <a:xfrm>
                <a:off x="1372430" y="3477701"/>
                <a:ext cx="7059538" cy="643466"/>
              </a:xfrm>
              <a:prstGeom prst="rect">
                <a:avLst/>
              </a:prstGeom>
              <a:solidFill>
                <a:schemeClr val="bg2">
                  <a:lumMod val="20000"/>
                  <a:lumOff val="80000"/>
                </a:schemeClr>
              </a:solidFill>
              <a:ln w="127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marL="91440" algn="just"/>
                <a:r>
                  <a:rPr lang="en-IN" sz="1200" b="1" i="0" dirty="0">
                    <a:solidFill>
                      <a:srgbClr val="0D0D0D"/>
                    </a:solidFill>
                    <a:effectLst/>
                    <a:highlight>
                      <a:srgbClr val="FFFFFF"/>
                    </a:highlight>
                    <a:latin typeface="Söhne"/>
                  </a:rPr>
                  <a:t>With Power BI, analysts employ predictive modelling and forecasting techniques to anticipate mission parameters, mitigate risks, and optimize decision-making for resource allocation and planning in the challenging domain of space exploration.</a:t>
                </a:r>
                <a:endParaRPr lang="en-US" sz="1200" b="1" dirty="0">
                  <a:solidFill>
                    <a:schemeClr val="tx1"/>
                  </a:solidFill>
                  <a:latin typeface="+mj-lt"/>
                  <a:cs typeface="Times New Roman" panose="02020603050405020304" pitchFamily="18" charset="0"/>
                </a:endParaRPr>
              </a:p>
            </p:txBody>
          </p:sp>
          <p:sp>
            <p:nvSpPr>
              <p:cNvPr id="24" name="Rectangle: Rounded Corners 23">
                <a:extLst>
                  <a:ext uri="{FF2B5EF4-FFF2-40B4-BE49-F238E27FC236}">
                    <a16:creationId xmlns:a16="http://schemas.microsoft.com/office/drawing/2014/main" id="{0A3666D9-36DA-372B-D0E2-7F7A22FBF3A6}"/>
                  </a:ext>
                </a:extLst>
              </p:cNvPr>
              <p:cNvSpPr/>
              <p:nvPr/>
            </p:nvSpPr>
            <p:spPr>
              <a:xfrm>
                <a:off x="712031" y="3477701"/>
                <a:ext cx="677333" cy="643467"/>
              </a:xfrm>
              <a:prstGeom prst="roundRect">
                <a:avLst/>
              </a:prstGeom>
              <a:solidFill>
                <a:schemeClr val="bg2">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dirty="0"/>
                  <a:t>4</a:t>
                </a:r>
              </a:p>
            </p:txBody>
          </p:sp>
        </p:grpSp>
      </p:grpSp>
    </p:spTree>
    <p:extLst>
      <p:ext uri="{BB962C8B-B14F-4D97-AF65-F5344CB8AC3E}">
        <p14:creationId xmlns:p14="http://schemas.microsoft.com/office/powerpoint/2010/main" val="1085522736"/>
      </p:ext>
    </p:extLst>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Shape 60"/>
        <p:cNvGrpSpPr/>
        <p:nvPr/>
      </p:nvGrpSpPr>
      <p:grpSpPr>
        <a:xfrm>
          <a:off x="0" y="0"/>
          <a:ext cx="0" cy="0"/>
          <a:chOff x="0" y="0"/>
          <a:chExt cx="0" cy="0"/>
        </a:xfrm>
      </p:grpSpPr>
      <p:sp>
        <p:nvSpPr>
          <p:cNvPr id="9" name="TextBox 8">
            <a:extLst>
              <a:ext uri="{FF2B5EF4-FFF2-40B4-BE49-F238E27FC236}">
                <a16:creationId xmlns:a16="http://schemas.microsoft.com/office/drawing/2014/main" id="{091B843F-6928-3290-2287-5FA1F531B685}"/>
              </a:ext>
            </a:extLst>
          </p:cNvPr>
          <p:cNvSpPr txBox="1"/>
          <p:nvPr/>
        </p:nvSpPr>
        <p:spPr>
          <a:xfrm>
            <a:off x="142495" y="1284891"/>
            <a:ext cx="5058525" cy="3139321"/>
          </a:xfrm>
          <a:prstGeom prst="rect">
            <a:avLst/>
          </a:prstGeom>
          <a:noFill/>
        </p:spPr>
        <p:txBody>
          <a:bodyPr rtlCol="0" wrap="square">
            <a:spAutoFit/>
          </a:bodyPr>
          <a:lstStyle/>
          <a:p>
            <a:pPr algn="just" indent="-173736" marL="173736">
              <a:spcAft>
                <a:spcPts val="800"/>
              </a:spcAft>
              <a:buFont charset="0" panose="020B0604020202020204" pitchFamily="34" typeface="Arial"/>
              <a:buChar char="•"/>
            </a:pPr>
            <a:r>
              <a:rPr dirty="0" lang="en-IN" sz="1800">
                <a:solidFill>
                  <a:srgbClr val="0D0D0D"/>
                </a:solidFill>
                <a:highlight>
                  <a:srgbClr val="FFFFFF"/>
                </a:highlight>
                <a:latin charset="-127" panose="020B0503020000020004" pitchFamily="34" typeface="Malgun Gothic"/>
                <a:ea charset="-127" panose="020B0503020000020004" pitchFamily="34" typeface="Malgun Gothic"/>
              </a:rPr>
              <a:t>T</a:t>
            </a:r>
            <a:r>
              <a:rPr dirty="0" i="0" lang="en-IN" sz="1800">
                <a:solidFill>
                  <a:srgbClr val="0D0D0D"/>
                </a:solidFill>
                <a:effectLst/>
                <a:highlight>
                  <a:srgbClr val="FFFFFF"/>
                </a:highlight>
                <a:latin charset="-127" panose="020B0503020000020004" pitchFamily="34" typeface="Malgun Gothic"/>
                <a:ea charset="-127" panose="020B0503020000020004" pitchFamily="34" typeface="Malgun Gothic"/>
              </a:rPr>
              <a:t>o develop and demonstrate the effectiveness of Power BI as a comprehensive tool for exploratory data analysis on space exploration missions. This involves addressing the challenges of data integration, cleansing, visualization, and predictive modelling specific to space mission datasets, ultimately enhancing decision-making processes and advancing our understanding of space exploration endeavours.</a:t>
            </a:r>
            <a:endParaRPr dirty="0" lang="en-IN" sz="1800">
              <a:latin charset="-127" panose="020B0503020000020004" pitchFamily="34" typeface="Malgun Gothic"/>
              <a:ea charset="-127" panose="020B0503020000020004" pitchFamily="34" typeface="Malgun Gothic"/>
            </a:endParaRPr>
          </a:p>
        </p:txBody>
      </p:sp>
      <p:sp>
        <p:nvSpPr>
          <p:cNvPr id="2" name="TextBox 1">
            <a:extLst>
              <a:ext uri="{FF2B5EF4-FFF2-40B4-BE49-F238E27FC236}">
                <a16:creationId xmlns:a16="http://schemas.microsoft.com/office/drawing/2014/main" id="{687AFAD5-578C-DC2D-F127-90FF4287354D}"/>
              </a:ext>
            </a:extLst>
          </p:cNvPr>
          <p:cNvSpPr txBox="1"/>
          <p:nvPr/>
        </p:nvSpPr>
        <p:spPr>
          <a:xfrm>
            <a:off x="143933" y="683683"/>
            <a:ext cx="4428068" cy="338554"/>
          </a:xfrm>
          <a:prstGeom prst="rect">
            <a:avLst/>
          </a:prstGeom>
          <a:noFill/>
        </p:spPr>
        <p:txBody>
          <a:bodyPr wrap="square">
            <a:spAutoFit/>
          </a:bodyPr>
          <a:lstStyle/>
          <a:p>
            <a:r>
              <a:rPr b="1" dirty="0" lang="en-IN" sz="1600">
                <a:solidFill>
                  <a:srgbClr val="213163"/>
                </a:solidFill>
              </a:rPr>
              <a:t>Problem Statement</a:t>
            </a:r>
            <a:endParaRPr dirty="0" lang="en-IN" sz="1600">
              <a:solidFill>
                <a:srgbClr val="213163"/>
              </a:solidFill>
            </a:endParaRPr>
          </a:p>
        </p:txBody>
      </p:sp>
      <p:grpSp>
        <p:nvGrpSpPr>
          <p:cNvPr id="3" name="Group 2">
            <a:extLst>
              <a:ext uri="{FF2B5EF4-FFF2-40B4-BE49-F238E27FC236}">
                <a16:creationId xmlns:a16="http://schemas.microsoft.com/office/drawing/2014/main" id="{328E85CD-DF89-87DD-6181-DCDD73B5625F}"/>
              </a:ext>
            </a:extLst>
          </p:cNvPr>
          <p:cNvGrpSpPr/>
          <p:nvPr/>
        </p:nvGrpSpPr>
        <p:grpSpPr>
          <a:xfrm>
            <a:off x="5699883" y="1288468"/>
            <a:ext cx="3189304" cy="2766856"/>
            <a:chOff x="4578211" y="760307"/>
            <a:chExt cx="4510006" cy="3741355"/>
          </a:xfrm>
        </p:grpSpPr>
        <p:pic>
          <p:nvPicPr>
            <p:cNvPr descr="A purple question mark with gears&#10;&#10;Description automatically generated" id="4" name="Picture 3">
              <a:extLst>
                <a:ext uri="{FF2B5EF4-FFF2-40B4-BE49-F238E27FC236}">
                  <a16:creationId xmlns:a16="http://schemas.microsoft.com/office/drawing/2014/main" id="{044B050F-754C-A956-97C8-EFB6B19ABEAE}"/>
                </a:ext>
              </a:extLst>
            </p:cNvPr>
            <p:cNvPicPr>
              <a:picLocks noChangeAspect="1"/>
            </p:cNvPicPr>
            <p:nvPr/>
          </p:nvPicPr>
          <p:blipFill rotWithShape="1">
            <a:blip r:embed="rId3"/>
            <a:srcRect b="11567" l="11111" r="10940" t="10028"/>
            <a:stretch/>
          </p:blipFill>
          <p:spPr>
            <a:xfrm>
              <a:off x="5486396" y="760307"/>
              <a:ext cx="3601821" cy="3622886"/>
            </a:xfrm>
            <a:prstGeom prst="rect">
              <a:avLst/>
            </a:prstGeom>
          </p:spPr>
        </p:pic>
        <p:pic>
          <p:nvPicPr>
            <p:cNvPr descr="Businessman with clipboard" id="5" name="Picture 4">
              <a:extLst>
                <a:ext uri="{FF2B5EF4-FFF2-40B4-BE49-F238E27FC236}">
                  <a16:creationId xmlns:a16="http://schemas.microsoft.com/office/drawing/2014/main" id="{82A80360-DC75-55F1-A1A2-BDCADC404BD5}"/>
                </a:ext>
              </a:extLst>
            </p:cNvPr>
            <p:cNvPicPr>
              <a:picLocks noChangeAspect="1"/>
            </p:cNvPicPr>
            <p:nvPr/>
          </p:nvPicPr>
          <p:blipFill rotWithShape="1">
            <a:blip r:embed="rId4"/>
            <a:srcRect b="46"/>
            <a:stretch/>
          </p:blipFill>
          <p:spPr>
            <a:xfrm>
              <a:off x="4578211" y="2188308"/>
              <a:ext cx="2340981" cy="2313354"/>
            </a:xfrm>
            <a:prstGeom prst="rect">
              <a:avLst/>
            </a:prstGeom>
          </p:spPr>
        </p:pic>
      </p:grpSp>
    </p:spTree>
    <p:extLst>
      <p:ext uri="{BB962C8B-B14F-4D97-AF65-F5344CB8AC3E}">
        <p14:creationId xmlns:p14="http://schemas.microsoft.com/office/powerpoint/2010/main" val="2746043547"/>
      </p:ext>
    </p:extLst>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F4D5078D-F8F7-912B-4E9C-BED71500ACC2}"/>
              </a:ext>
            </a:extLst>
          </p:cNvPr>
          <p:cNvSpPr txBox="1"/>
          <p:nvPr/>
        </p:nvSpPr>
        <p:spPr>
          <a:xfrm>
            <a:off x="143933" y="683683"/>
            <a:ext cx="4428068" cy="338554"/>
          </a:xfrm>
          <a:prstGeom prst="rect">
            <a:avLst/>
          </a:prstGeom>
          <a:noFill/>
        </p:spPr>
        <p:txBody>
          <a:bodyPr wrap="square">
            <a:spAutoFit/>
          </a:bodyPr>
          <a:lstStyle/>
          <a:p>
            <a:r>
              <a:rPr b="1" dirty="0" lang="en-IN" sz="1600">
                <a:solidFill>
                  <a:srgbClr val="213163"/>
                </a:solidFill>
              </a:rPr>
              <a:t>Project Overview</a:t>
            </a:r>
            <a:endParaRPr dirty="0" lang="en-IN" sz="1600">
              <a:solidFill>
                <a:srgbClr val="213163"/>
              </a:solidFill>
            </a:endParaRPr>
          </a:p>
        </p:txBody>
      </p:sp>
      <p:sp>
        <p:nvSpPr>
          <p:cNvPr id="3" name="TextBox 2">
            <a:extLst>
              <a:ext uri="{FF2B5EF4-FFF2-40B4-BE49-F238E27FC236}">
                <a16:creationId xmlns:a16="http://schemas.microsoft.com/office/drawing/2014/main" id="{0C511917-B5EE-88C1-A75B-AC3ADE14BEB8}"/>
              </a:ext>
            </a:extLst>
          </p:cNvPr>
          <p:cNvSpPr txBox="1"/>
          <p:nvPr/>
        </p:nvSpPr>
        <p:spPr>
          <a:xfrm>
            <a:off x="143805" y="1142014"/>
            <a:ext cx="5055021" cy="3272691"/>
          </a:xfrm>
          <a:prstGeom prst="rect">
            <a:avLst/>
          </a:prstGeom>
          <a:noFill/>
        </p:spPr>
        <p:txBody>
          <a:bodyPr rtlCol="0" wrap="square">
            <a:spAutoFit/>
          </a:bodyPr>
          <a:lstStyle/>
          <a:p>
            <a:pPr algn="just" indent="-173736" marL="173736">
              <a:spcAft>
                <a:spcPts val="800"/>
              </a:spcAft>
              <a:buFont charset="0" panose="020B0604020202020204" pitchFamily="34" typeface="Arial"/>
              <a:buChar char="•"/>
            </a:pPr>
            <a:r>
              <a:rPr b="1" dirty="0" i="0" lang="en-IN" sz="1200">
                <a:solidFill>
                  <a:srgbClr val="0D0D0D"/>
                </a:solidFill>
                <a:effectLst/>
                <a:highlight>
                  <a:srgbClr val="FFFFFF"/>
                </a:highlight>
                <a:latin typeface="Söhne"/>
              </a:rPr>
              <a:t>The project aims to showcase the effectiveness of Power BI in enhancing exploratory data analysis (EDA) for space exploration missions.</a:t>
            </a:r>
          </a:p>
          <a:p>
            <a:pPr algn="just" indent="-173736" marL="173736">
              <a:spcAft>
                <a:spcPts val="800"/>
              </a:spcAft>
              <a:buFont charset="0" panose="020B0604020202020204" pitchFamily="34" typeface="Arial"/>
              <a:buChar char="•"/>
            </a:pPr>
            <a:r>
              <a:rPr b="1" dirty="0" i="0" lang="en-IN" sz="1200">
                <a:solidFill>
                  <a:srgbClr val="0D0D0D"/>
                </a:solidFill>
                <a:effectLst/>
                <a:highlight>
                  <a:srgbClr val="FFFFFF"/>
                </a:highlight>
                <a:latin typeface="Söhne"/>
              </a:rPr>
              <a:t>The project involves leveraging Power BI's capabilities for data integration, cleansing, visualization, and predictive modelling tailored to the unique challenges of space mission datasets.</a:t>
            </a:r>
            <a:endParaRPr b="1" dirty="0" lang="en-IN" sz="1200">
              <a:solidFill>
                <a:srgbClr val="0D0D0D"/>
              </a:solidFill>
              <a:highlight>
                <a:srgbClr val="FFFFFF"/>
              </a:highlight>
              <a:latin typeface="Söhne"/>
            </a:endParaRPr>
          </a:p>
          <a:p>
            <a:pPr algn="just" indent="-173736" marL="173736">
              <a:spcAft>
                <a:spcPts val="800"/>
              </a:spcAft>
              <a:buFont charset="0" panose="020B0604020202020204" pitchFamily="34" typeface="Arial"/>
              <a:buChar char="•"/>
            </a:pPr>
            <a:r>
              <a:rPr b="1" dirty="0" i="0" lang="en-IN" sz="1200">
                <a:solidFill>
                  <a:srgbClr val="0D0D0D"/>
                </a:solidFill>
                <a:effectLst/>
                <a:highlight>
                  <a:srgbClr val="FFFFFF"/>
                </a:highlight>
                <a:latin typeface="Söhne"/>
              </a:rPr>
              <a:t>The analysis encompasses data integration and cleansing, visualization for pattern recognition, descriptive and diagnostic analysis, and predictive modelling for forecasting mission parameters and risks.</a:t>
            </a:r>
          </a:p>
          <a:p>
            <a:pPr algn="just" indent="-173736" marL="173736">
              <a:spcAft>
                <a:spcPts val="800"/>
              </a:spcAft>
              <a:buFont charset="0" panose="020B0604020202020204" pitchFamily="34" typeface="Arial"/>
              <a:buChar char="•"/>
            </a:pPr>
            <a:r>
              <a:rPr b="1" dirty="0" i="0" lang="en-IN" sz="1200">
                <a:solidFill>
                  <a:srgbClr val="0D0D0D"/>
                </a:solidFill>
                <a:effectLst/>
                <a:highlight>
                  <a:srgbClr val="FFFFFF"/>
                </a:highlight>
                <a:latin typeface="Söhne"/>
              </a:rPr>
              <a:t>The project aims to demonstrate how Power BI can streamline EDA processes, enabling quicker insights extraction, informed decision-making, and improved mission planning and execution.</a:t>
            </a:r>
            <a:endParaRPr b="1" dirty="0" lang="en-IN" sz="1200">
              <a:solidFill>
                <a:srgbClr val="0D0D0D"/>
              </a:solidFill>
              <a:highlight>
                <a:srgbClr val="FFFFFF"/>
              </a:highlight>
              <a:latin typeface="Söhne"/>
            </a:endParaRPr>
          </a:p>
          <a:p>
            <a:pPr algn="just" indent="-173736" marL="173736">
              <a:spcAft>
                <a:spcPts val="800"/>
              </a:spcAft>
              <a:buFont charset="0" panose="020B0604020202020204" pitchFamily="34" typeface="Arial"/>
              <a:buChar char="•"/>
            </a:pPr>
            <a:r>
              <a:rPr b="1" dirty="0" i="0" lang="en-IN" sz="1200">
                <a:solidFill>
                  <a:srgbClr val="0D0D0D"/>
                </a:solidFill>
                <a:effectLst/>
                <a:highlight>
                  <a:srgbClr val="FFFFFF"/>
                </a:highlight>
                <a:latin typeface="Söhne"/>
              </a:rPr>
              <a:t>By showcasing Power BI's efficacy in analysing space mission data, the project contributes to advancing space exploration endeavours, enhancing mission success rates, and fostering scientific discovery in outer space.</a:t>
            </a:r>
            <a:endParaRPr b="1" dirty="0" lang="en-US" sz="1200">
              <a:latin typeface="+mn-lt"/>
            </a:endParaRPr>
          </a:p>
        </p:txBody>
      </p:sp>
      <p:pic>
        <p:nvPicPr>
          <p:cNvPr descr="Person writing on whiteboard" id="5" name="Picture 4">
            <a:extLst>
              <a:ext uri="{FF2B5EF4-FFF2-40B4-BE49-F238E27FC236}">
                <a16:creationId xmlns:a16="http://schemas.microsoft.com/office/drawing/2014/main" id="{6858EAD1-D312-BBBA-4C50-43B9E76BB53F}"/>
              </a:ext>
            </a:extLst>
          </p:cNvPr>
          <p:cNvPicPr>
            <a:picLocks noChangeAspect="1"/>
          </p:cNvPicPr>
          <p:nvPr/>
        </p:nvPicPr>
        <p:blipFill rotWithShape="1">
          <a:blip r:embed="rId3"/>
          <a:srcRect r="18"/>
          <a:stretch/>
        </p:blipFill>
        <p:spPr>
          <a:xfrm>
            <a:off x="5419077" y="1360299"/>
            <a:ext cx="3453703" cy="2747189"/>
          </a:xfrm>
          <a:prstGeom prst="rect">
            <a:avLst/>
          </a:prstGeom>
        </p:spPr>
      </p:pic>
    </p:spTree>
    <p:extLst>
      <p:ext uri="{BB962C8B-B14F-4D97-AF65-F5344CB8AC3E}">
        <p14:creationId xmlns:p14="http://schemas.microsoft.com/office/powerpoint/2010/main" val="2975191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6F61A928-5A2D-C5DF-2F01-079C34A75432}"/>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Proposed Solution</a:t>
            </a:r>
            <a:endParaRPr lang="en-IN" sz="1600" dirty="0">
              <a:solidFill>
                <a:srgbClr val="213163"/>
              </a:solidFill>
            </a:endParaRPr>
          </a:p>
        </p:txBody>
      </p:sp>
      <p:sp>
        <p:nvSpPr>
          <p:cNvPr id="3" name="TextBox 2">
            <a:extLst>
              <a:ext uri="{FF2B5EF4-FFF2-40B4-BE49-F238E27FC236}">
                <a16:creationId xmlns:a16="http://schemas.microsoft.com/office/drawing/2014/main" id="{796BFA82-8AB0-23BA-909F-C886C3F7A669}"/>
              </a:ext>
            </a:extLst>
          </p:cNvPr>
          <p:cNvSpPr txBox="1"/>
          <p:nvPr/>
        </p:nvSpPr>
        <p:spPr>
          <a:xfrm>
            <a:off x="126996" y="1134562"/>
            <a:ext cx="8466813" cy="1795363"/>
          </a:xfrm>
          <a:prstGeom prst="rect">
            <a:avLst/>
          </a:prstGeom>
          <a:noFill/>
        </p:spPr>
        <p:txBody>
          <a:bodyPr wrap="square" rtlCol="0">
            <a:spAutoFit/>
          </a:bodyPr>
          <a:lstStyle/>
          <a:p>
            <a:pPr marL="173736" indent="-173736" algn="just">
              <a:spcAft>
                <a:spcPts val="800"/>
              </a:spcAft>
              <a:buFont typeface="Arial" panose="020B0604020202020204" pitchFamily="34" charset="0"/>
              <a:buChar char="•"/>
            </a:pPr>
            <a:r>
              <a:rPr lang="en-IN" b="1" i="0" dirty="0">
                <a:solidFill>
                  <a:srgbClr val="333333"/>
                </a:solidFill>
                <a:effectLst/>
                <a:highlight>
                  <a:srgbClr val="FFFFFF"/>
                </a:highlight>
                <a:latin typeface="Roboto" panose="02000000000000000000" pitchFamily="2" charset="0"/>
              </a:rPr>
              <a:t>Importing, Pre-Processing and Data Modelling</a:t>
            </a:r>
            <a:r>
              <a:rPr lang="en-IN" b="0" i="0" dirty="0">
                <a:solidFill>
                  <a:srgbClr val="333333"/>
                </a:solidFill>
                <a:effectLst/>
                <a:highlight>
                  <a:srgbClr val="FFFFFF"/>
                </a:highlight>
                <a:latin typeface="Roboto" panose="02000000000000000000" pitchFamily="2" charset="0"/>
              </a:rPr>
              <a:t>  </a:t>
            </a:r>
            <a:endParaRPr lang="en-US" b="0" i="0" dirty="0">
              <a:solidFill>
                <a:srgbClr val="333333"/>
              </a:solidFill>
              <a:effectLst/>
              <a:highlight>
                <a:srgbClr val="FFFFFF"/>
              </a:highlight>
              <a:latin typeface="+mn-lt"/>
            </a:endParaRPr>
          </a:p>
          <a:p>
            <a:pPr marL="173736" indent="-173736" algn="just">
              <a:spcAft>
                <a:spcPts val="800"/>
              </a:spcAft>
              <a:buFont typeface="Arial" panose="020B0604020202020204" pitchFamily="34" charset="0"/>
              <a:buChar char="•"/>
            </a:pPr>
            <a:r>
              <a:rPr lang="en-IN" b="1" i="0" dirty="0">
                <a:solidFill>
                  <a:srgbClr val="333333"/>
                </a:solidFill>
                <a:effectLst/>
                <a:highlight>
                  <a:srgbClr val="FFFFFF"/>
                </a:highlight>
                <a:latin typeface="Roboto" panose="02000000000000000000" pitchFamily="2" charset="0"/>
              </a:rPr>
              <a:t>Prepare DAX and Dash Board(Visualization)</a:t>
            </a:r>
            <a:r>
              <a:rPr lang="en-IN" b="0" i="0" dirty="0">
                <a:solidFill>
                  <a:srgbClr val="333333"/>
                </a:solidFill>
                <a:effectLst/>
                <a:highlight>
                  <a:srgbClr val="FFFFFF"/>
                </a:highlight>
                <a:latin typeface="Roboto" panose="02000000000000000000" pitchFamily="2" charset="0"/>
              </a:rPr>
              <a:t> </a:t>
            </a:r>
          </a:p>
          <a:p>
            <a:pPr marL="173736" indent="-173736" algn="just">
              <a:spcAft>
                <a:spcPts val="800"/>
              </a:spcAft>
              <a:buFont typeface="Arial" panose="020B0604020202020204" pitchFamily="34" charset="0"/>
              <a:buChar char="•"/>
            </a:pPr>
            <a:r>
              <a:rPr lang="en-IN" b="0" i="0" dirty="0">
                <a:solidFill>
                  <a:srgbClr val="333333"/>
                </a:solidFill>
                <a:effectLst/>
                <a:highlight>
                  <a:srgbClr val="FFFFFF"/>
                </a:highlight>
                <a:latin typeface="Roboto" panose="02000000000000000000" pitchFamily="2" charset="0"/>
              </a:rPr>
              <a:t> </a:t>
            </a:r>
            <a:r>
              <a:rPr lang="en-IN" b="1" i="0" dirty="0">
                <a:solidFill>
                  <a:srgbClr val="333333"/>
                </a:solidFill>
                <a:effectLst/>
                <a:highlight>
                  <a:srgbClr val="FFFFFF"/>
                </a:highlight>
                <a:latin typeface="Roboto" panose="02000000000000000000" pitchFamily="2" charset="0"/>
              </a:rPr>
              <a:t>Advanced</a:t>
            </a:r>
            <a:r>
              <a:rPr lang="en-IN" b="0" i="0" dirty="0">
                <a:solidFill>
                  <a:srgbClr val="333333"/>
                </a:solidFill>
                <a:effectLst/>
                <a:highlight>
                  <a:srgbClr val="FFFFFF"/>
                </a:highlight>
                <a:latin typeface="Roboto" panose="02000000000000000000" pitchFamily="2" charset="0"/>
              </a:rPr>
              <a:t> </a:t>
            </a:r>
            <a:r>
              <a:rPr lang="en-IN" b="1" i="0" dirty="0">
                <a:solidFill>
                  <a:srgbClr val="333333"/>
                </a:solidFill>
                <a:effectLst/>
                <a:highlight>
                  <a:srgbClr val="FFFFFF"/>
                </a:highlight>
                <a:latin typeface="Roboto" panose="02000000000000000000" pitchFamily="2" charset="0"/>
              </a:rPr>
              <a:t>Visualization</a:t>
            </a:r>
            <a:r>
              <a:rPr lang="en-IN" dirty="0">
                <a:solidFill>
                  <a:srgbClr val="333333"/>
                </a:solidFill>
                <a:highlight>
                  <a:srgbClr val="FFFFFF"/>
                </a:highlight>
                <a:latin typeface="Roboto" panose="02000000000000000000" pitchFamily="2" charset="0"/>
              </a:rPr>
              <a:t>, </a:t>
            </a:r>
            <a:r>
              <a:rPr lang="en-IN" b="0" i="0" dirty="0">
                <a:solidFill>
                  <a:srgbClr val="333333"/>
                </a:solidFill>
                <a:effectLst/>
                <a:highlight>
                  <a:srgbClr val="FFFFFF"/>
                </a:highlight>
                <a:latin typeface="Roboto" panose="02000000000000000000" pitchFamily="2" charset="0"/>
              </a:rPr>
              <a:t> </a:t>
            </a:r>
            <a:r>
              <a:rPr lang="en-IN" b="1" i="0" dirty="0">
                <a:solidFill>
                  <a:srgbClr val="333333"/>
                </a:solidFill>
                <a:effectLst/>
                <a:highlight>
                  <a:srgbClr val="FFFFFF"/>
                </a:highlight>
                <a:latin typeface="Roboto" panose="02000000000000000000" pitchFamily="2" charset="0"/>
              </a:rPr>
              <a:t>Filters and Slicers, further Adding various columns and measures to charts to achieve Project requirements </a:t>
            </a:r>
          </a:p>
          <a:p>
            <a:pPr marL="173736" indent="-173736" algn="just">
              <a:spcAft>
                <a:spcPts val="800"/>
              </a:spcAft>
              <a:buFont typeface="Arial" panose="020B0604020202020204" pitchFamily="34" charset="0"/>
              <a:buChar char="•"/>
            </a:pPr>
            <a:r>
              <a:rPr lang="en-IN" b="1" i="0" dirty="0">
                <a:solidFill>
                  <a:srgbClr val="333333"/>
                </a:solidFill>
                <a:effectLst/>
                <a:highlight>
                  <a:srgbClr val="FFFFFF"/>
                </a:highlight>
                <a:latin typeface="Roboto" panose="02000000000000000000" pitchFamily="2" charset="0"/>
              </a:rPr>
              <a:t>Formatting and Testing the Project Functionality</a:t>
            </a:r>
            <a:r>
              <a:rPr lang="en-IN" b="0" i="0" dirty="0">
                <a:solidFill>
                  <a:srgbClr val="333333"/>
                </a:solidFill>
                <a:effectLst/>
                <a:highlight>
                  <a:srgbClr val="FFFFFF"/>
                </a:highlight>
                <a:latin typeface="Roboto" panose="02000000000000000000" pitchFamily="2" charset="0"/>
              </a:rPr>
              <a:t> </a:t>
            </a:r>
            <a:endParaRPr lang="en-IN" b="1" i="0" dirty="0">
              <a:solidFill>
                <a:srgbClr val="333333"/>
              </a:solidFill>
              <a:effectLst/>
              <a:highlight>
                <a:srgbClr val="FFFFFF"/>
              </a:highlight>
              <a:latin typeface="Roboto" panose="02000000000000000000" pitchFamily="2" charset="0"/>
            </a:endParaRPr>
          </a:p>
          <a:p>
            <a:pPr marL="173736" indent="-173736">
              <a:spcAft>
                <a:spcPts val="800"/>
              </a:spcAft>
              <a:buFont typeface="Arial" panose="020B0604020202020204" pitchFamily="34" charset="0"/>
              <a:buChar char="•"/>
            </a:pPr>
            <a:endParaRPr lang="en-US" b="1" dirty="0">
              <a:latin typeface="+mn-lt"/>
            </a:endParaRPr>
          </a:p>
        </p:txBody>
      </p:sp>
    </p:spTree>
    <p:extLst>
      <p:ext uri="{BB962C8B-B14F-4D97-AF65-F5344CB8AC3E}">
        <p14:creationId xmlns:p14="http://schemas.microsoft.com/office/powerpoint/2010/main" val="2621200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F96CA3F3-3D59-0BCC-5AFC-FB31E62203CC}"/>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Technology used</a:t>
            </a:r>
            <a:endParaRPr lang="en-IN" sz="1600" dirty="0">
              <a:solidFill>
                <a:srgbClr val="213163"/>
              </a:solidFill>
            </a:endParaRPr>
          </a:p>
        </p:txBody>
      </p:sp>
      <p:sp>
        <p:nvSpPr>
          <p:cNvPr id="3" name="TextBox 2">
            <a:extLst>
              <a:ext uri="{FF2B5EF4-FFF2-40B4-BE49-F238E27FC236}">
                <a16:creationId xmlns:a16="http://schemas.microsoft.com/office/drawing/2014/main" id="{A111D00F-E3D6-896E-4001-492D6D1DC85F}"/>
              </a:ext>
            </a:extLst>
          </p:cNvPr>
          <p:cNvSpPr txBox="1"/>
          <p:nvPr/>
        </p:nvSpPr>
        <p:spPr>
          <a:xfrm>
            <a:off x="406562" y="1083221"/>
            <a:ext cx="4445003" cy="400110"/>
          </a:xfrm>
          <a:prstGeom prst="rect">
            <a:avLst/>
          </a:prstGeom>
          <a:noFill/>
        </p:spPr>
        <p:txBody>
          <a:bodyPr wrap="square" rtlCol="0">
            <a:spAutoFit/>
          </a:bodyPr>
          <a:lstStyle/>
          <a:p>
            <a:pPr marL="173736" indent="-173736">
              <a:spcAft>
                <a:spcPts val="800"/>
              </a:spcAft>
              <a:buFont typeface="Arial" panose="020B0604020202020204" pitchFamily="34" charset="0"/>
              <a:buChar char="•"/>
            </a:pPr>
            <a:r>
              <a:rPr lang="en-US" sz="2000" b="1" dirty="0">
                <a:latin typeface="Malgun Gothic" panose="020B0503020000020004" pitchFamily="34" charset="-127"/>
                <a:ea typeface="Malgun Gothic" panose="020B0503020000020004" pitchFamily="34" charset="-127"/>
              </a:rPr>
              <a:t>Power BI</a:t>
            </a:r>
          </a:p>
        </p:txBody>
      </p:sp>
    </p:spTree>
    <p:extLst>
      <p:ext uri="{BB962C8B-B14F-4D97-AF65-F5344CB8AC3E}">
        <p14:creationId xmlns:p14="http://schemas.microsoft.com/office/powerpoint/2010/main" val="4017130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TextBox 4">
            <a:extLst>
              <a:ext uri="{FF2B5EF4-FFF2-40B4-BE49-F238E27FC236}">
                <a16:creationId xmlns:a16="http://schemas.microsoft.com/office/drawing/2014/main" id="{D94080DE-03F5-1FE4-A922-15490146EBB6}"/>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Modelling &amp; Result</a:t>
            </a:r>
          </a:p>
        </p:txBody>
      </p:sp>
      <p:pic>
        <p:nvPicPr>
          <p:cNvPr id="3" name="Picture 2">
            <a:extLst>
              <a:ext uri="{FF2B5EF4-FFF2-40B4-BE49-F238E27FC236}">
                <a16:creationId xmlns:a16="http://schemas.microsoft.com/office/drawing/2014/main" id="{D28E4BBC-AACB-DA1E-0843-E78D035A0980}"/>
              </a:ext>
            </a:extLst>
          </p:cNvPr>
          <p:cNvPicPr>
            <a:picLocks noChangeAspect="1"/>
          </p:cNvPicPr>
          <p:nvPr/>
        </p:nvPicPr>
        <p:blipFill>
          <a:blip r:embed="rId3"/>
          <a:stretch>
            <a:fillRect/>
          </a:stretch>
        </p:blipFill>
        <p:spPr>
          <a:xfrm>
            <a:off x="2623127" y="751813"/>
            <a:ext cx="5346617" cy="4016679"/>
          </a:xfrm>
          <a:prstGeom prst="rect">
            <a:avLst/>
          </a:prstGeom>
        </p:spPr>
      </p:pic>
    </p:spTree>
    <p:extLst>
      <p:ext uri="{BB962C8B-B14F-4D97-AF65-F5344CB8AC3E}">
        <p14:creationId xmlns:p14="http://schemas.microsoft.com/office/powerpoint/2010/main" val="3104766145"/>
      </p:ext>
    </p:extLst>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143933" y="683683"/>
            <a:ext cx="4428068" cy="338554"/>
          </a:xfrm>
          <a:prstGeom prst="rect">
            <a:avLst/>
          </a:prstGeom>
          <a:noFill/>
        </p:spPr>
        <p:txBody>
          <a:bodyPr wrap="square">
            <a:spAutoFit/>
          </a:bodyPr>
          <a:lstStyle/>
          <a:p>
            <a:r>
              <a:rPr b="1" dirty="0" lang="en-IN" sz="1600">
                <a:solidFill>
                  <a:srgbClr val="213163"/>
                </a:solidFill>
              </a:rPr>
              <a:t>Conclusion</a:t>
            </a:r>
            <a:endParaRPr dirty="0" lang="en-IN" sz="160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142495" y="1149763"/>
            <a:ext cx="4445003" cy="3970318"/>
          </a:xfrm>
          <a:prstGeom prst="rect">
            <a:avLst/>
          </a:prstGeom>
          <a:noFill/>
        </p:spPr>
        <p:txBody>
          <a:bodyPr rtlCol="0" wrap="square">
            <a:spAutoFit/>
          </a:bodyPr>
          <a:lstStyle/>
          <a:p>
            <a:pPr algn="just" indent="-285750" marL="285750">
              <a:buFont charset="0" panose="020B0604020202020204" pitchFamily="34" typeface="Arial"/>
              <a:buChar char="•"/>
            </a:pPr>
            <a:r>
              <a:rPr dirty="0" lang="en-IN"/>
              <a:t>T</a:t>
            </a:r>
            <a:r>
              <a:rPr dirty="0" lang="en-IN">
                <a:effectLst/>
              </a:rPr>
              <a:t>he application of Power BI in space exploration data analysis offers a transformative approach to handling the complexities of mission datasets. Through its robust capabilities in data integration, visualization, and predictive modelling, Power BI streamlines processes and enhances decision-making in space missions. The project's findings underscore the importance of leveraging advanced analytical tools to extract valuable insights, optimize resource allocation, and mitigate risks in space exploration endeavours. As we continue to push the boundaries of space exploration, the integration of tools like Power BI will play a pivotal role in unlocking new discoveries and ensuring the success of future missions.</a:t>
            </a:r>
          </a:p>
          <a:p>
            <a:pPr algn="l"/>
            <a:br>
              <a:rPr b="0" dirty="0" i="0" lang="en-IN">
                <a:solidFill>
                  <a:srgbClr val="000000"/>
                </a:solidFill>
                <a:effectLst/>
                <a:highlight>
                  <a:srgbClr val="FFFFFF"/>
                </a:highlight>
                <a:latin typeface="Söhne"/>
              </a:rPr>
            </a:br>
            <a:endParaRPr b="0" dirty="0" i="0" lang="en-IN">
              <a:solidFill>
                <a:srgbClr val="000000"/>
              </a:solidFill>
              <a:effectLst/>
              <a:highlight>
                <a:srgbClr val="FFFFFF"/>
              </a:highlight>
              <a:latin typeface="Söhne"/>
            </a:endParaRPr>
          </a:p>
          <a:p>
            <a:pPr indent="-173736" marL="173736">
              <a:spcAft>
                <a:spcPts val="800"/>
              </a:spcAft>
              <a:buFont charset="0" panose="020B0604020202020204" pitchFamily="34" typeface="Arial"/>
              <a:buChar char="•"/>
            </a:pPr>
            <a:endParaRPr dirty="0" lang="en-US">
              <a:latin typeface="+mn-lt"/>
            </a:endParaRPr>
          </a:p>
        </p:txBody>
      </p:sp>
      <p:pic>
        <p:nvPicPr>
          <p:cNvPr descr="A pen and papers with check marks&#10;&#10;Description automatically generated" id="2" name="Picture 1">
            <a:extLst>
              <a:ext uri="{FF2B5EF4-FFF2-40B4-BE49-F238E27FC236}">
                <a16:creationId xmlns:a16="http://schemas.microsoft.com/office/drawing/2014/main" id="{911873D4-6E45-41A1-3B3A-557C66561EEF}"/>
              </a:ext>
            </a:extLst>
          </p:cNvPr>
          <p:cNvPicPr>
            <a:picLocks noChangeAspect="1"/>
          </p:cNvPicPr>
          <p:nvPr/>
        </p:nvPicPr>
        <p:blipFill rotWithShape="1">
          <a:blip r:embed="rId3"/>
          <a:srcRect b="14" r="7" t="17"/>
          <a:stretch/>
        </p:blipFill>
        <p:spPr>
          <a:xfrm>
            <a:off x="4798082" y="1398625"/>
            <a:ext cx="4104015" cy="2893338"/>
          </a:xfrm>
          <a:prstGeom prst="rect">
            <a:avLst/>
          </a:prstGeom>
        </p:spPr>
      </p:pic>
    </p:spTree>
    <p:extLst>
      <p:ext uri="{BB962C8B-B14F-4D97-AF65-F5344CB8AC3E}">
        <p14:creationId xmlns:p14="http://schemas.microsoft.com/office/powerpoint/2010/main" val="2046321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up of a thank you card&#10;&#10;Description automatically generated">
            <a:extLst>
              <a:ext uri="{FF2B5EF4-FFF2-40B4-BE49-F238E27FC236}">
                <a16:creationId xmlns:a16="http://schemas.microsoft.com/office/drawing/2014/main" id="{A93903B1-E7A1-B168-DEC2-0635A4163F59}"/>
              </a:ext>
            </a:extLst>
          </p:cNvPr>
          <p:cNvPicPr>
            <a:picLocks noChangeAspect="1"/>
          </p:cNvPicPr>
          <p:nvPr/>
        </p:nvPicPr>
        <p:blipFill rotWithShape="1">
          <a:blip r:embed="rId3"/>
          <a:srcRect l="9710" t="21904" r="9339"/>
          <a:stretch/>
        </p:blipFill>
        <p:spPr>
          <a:xfrm>
            <a:off x="575375" y="402956"/>
            <a:ext cx="7993251" cy="4337588"/>
          </a:xfrm>
          <a:prstGeom prst="rect">
            <a:avLst/>
          </a:prstGeom>
        </p:spPr>
      </p:pic>
      <p:grpSp>
        <p:nvGrpSpPr>
          <p:cNvPr id="2" name="Group 1">
            <a:extLst>
              <a:ext uri="{FF2B5EF4-FFF2-40B4-BE49-F238E27FC236}">
                <a16:creationId xmlns:a16="http://schemas.microsoft.com/office/drawing/2014/main" id="{CEE0173B-95AD-2DE9-9875-1230DDB2626C}"/>
              </a:ext>
            </a:extLst>
          </p:cNvPr>
          <p:cNvGrpSpPr/>
          <p:nvPr/>
        </p:nvGrpSpPr>
        <p:grpSpPr>
          <a:xfrm>
            <a:off x="3471621" y="3184902"/>
            <a:ext cx="2200759" cy="813661"/>
            <a:chOff x="3246895" y="3184902"/>
            <a:chExt cx="2200759" cy="813661"/>
          </a:xfrm>
        </p:grpSpPr>
        <p:sp>
          <p:nvSpPr>
            <p:cNvPr id="7" name="Rectangle: Rounded Corners 6">
              <a:extLst>
                <a:ext uri="{FF2B5EF4-FFF2-40B4-BE49-F238E27FC236}">
                  <a16:creationId xmlns:a16="http://schemas.microsoft.com/office/drawing/2014/main" id="{7DB8DC4F-8F3C-8864-0B3A-2CEA4109D402}"/>
                </a:ext>
              </a:extLst>
            </p:cNvPr>
            <p:cNvSpPr/>
            <p:nvPr/>
          </p:nvSpPr>
          <p:spPr>
            <a:xfrm>
              <a:off x="3246895" y="3184902"/>
              <a:ext cx="2200759" cy="813661"/>
            </a:xfrm>
            <a:prstGeom prst="roundRect">
              <a:avLst>
                <a:gd name="adj" fmla="val 12730"/>
              </a:avLst>
            </a:prstGeom>
            <a:solidFill>
              <a:schemeClr val="bg1">
                <a:alpha val="44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6" name="Picture 5" descr="A close up of a logo&#10;&#10;Description automatically generated">
              <a:extLst>
                <a:ext uri="{FF2B5EF4-FFF2-40B4-BE49-F238E27FC236}">
                  <a16:creationId xmlns:a16="http://schemas.microsoft.com/office/drawing/2014/main" id="{D1CBC941-B5EE-0296-38A5-2CB11104E0D2}"/>
                </a:ext>
              </a:extLst>
            </p:cNvPr>
            <p:cNvPicPr>
              <a:picLocks noChangeAspect="1"/>
            </p:cNvPicPr>
            <p:nvPr/>
          </p:nvPicPr>
          <p:blipFill>
            <a:blip r:embed="rId4"/>
            <a:stretch>
              <a:fillRect/>
            </a:stretch>
          </p:blipFill>
          <p:spPr>
            <a:xfrm>
              <a:off x="3551416" y="3332885"/>
              <a:ext cx="1591717" cy="517694"/>
            </a:xfrm>
            <a:prstGeom prst="rect">
              <a:avLst/>
            </a:prstGeom>
          </p:spPr>
        </p:pic>
      </p:gr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706AB80-2608-47D7-8AC8-FA6BC8A9B2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2769</TotalTime>
  <Words>556</Words>
  <Application>Microsoft Macintosh PowerPoint</Application>
  <PresentationFormat>On-screen Show (16:9)</PresentationFormat>
  <Paragraphs>42</Paragraphs>
  <Slides>10</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Malgun Gothic</vt:lpstr>
      <vt:lpstr>Arial</vt:lpstr>
      <vt:lpstr>Roboto</vt:lpstr>
      <vt:lpstr>Söhne</vt:lpstr>
      <vt:lpstr>Times New Roman</vt:lpstr>
      <vt:lpstr>Simple Light</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Tejas Gaikwad</cp:lastModifiedBy>
  <cp:revision>54</cp:revision>
  <dcterms:modified xsi:type="dcterms:W3CDTF">2024-03-27T15:06:42Z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ContentTypeId" pid="2">
    <vt:lpwstr>0x0101000F1872188ABCFC48BECA6C87E8AC3285</vt:lpwstr>
  </property>
  <property fmtid="{D5CDD505-2E9C-101B-9397-08002B2CF9AE}" name="NXPowerLiteLastOptimized" pid="3">
    <vt:lpwstr>1470281</vt:lpwstr>
  </property>
  <property fmtid="{D5CDD505-2E9C-101B-9397-08002B2CF9AE}" name="NXPowerLiteSettings" pid="4">
    <vt:lpwstr>F7000400038000</vt:lpwstr>
  </property>
  <property fmtid="{D5CDD505-2E9C-101B-9397-08002B2CF9AE}" name="NXPowerLiteVersion" pid="5">
    <vt:lpwstr>S10.2.0</vt:lpwstr>
  </property>
</Properties>
</file>